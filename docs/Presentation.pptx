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90fc7484204be9" /><Relationship Type="http://schemas.openxmlformats.org/officeDocument/2006/relationships/extended-properties" Target="/docProps/app.xml" Id="Rc67ba75a33714e33" /><Relationship Type="http://schemas.openxmlformats.org/officeDocument/2006/relationships/officeDocument" Target="/ppt/presentation.xml" Id="Ra5be9c70f0594c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f859b8514b406f"/>
  </p:sldMasterIdLst>
  <p:notesMasterIdLst>
    <p:notesMasterId xmlns:r="http://schemas.openxmlformats.org/officeDocument/2006/relationships" r:id="Rbac5303685fb4907"/>
  </p:notesMasterIdLst>
  <p:sldIdLst>
    <p:sldId xmlns:r="http://schemas.openxmlformats.org/officeDocument/2006/relationships" id="256" r:id="R8ae8397fab6141a4"/>
    <p:sldId xmlns:r="http://schemas.openxmlformats.org/officeDocument/2006/relationships" id="257" r:id="Rd9e2b9f4f6324070"/>
    <p:sldId xmlns:r="http://schemas.openxmlformats.org/officeDocument/2006/relationships" id="258" r:id="R8800a1cecb904b52"/>
    <p:sldId xmlns:r="http://schemas.openxmlformats.org/officeDocument/2006/relationships" id="259" r:id="Re5f5adc6af1c4702"/>
    <p:sldId xmlns:r="http://schemas.openxmlformats.org/officeDocument/2006/relationships" id="260" r:id="R6675558f5d0a41b5"/>
    <p:sldId xmlns:r="http://schemas.openxmlformats.org/officeDocument/2006/relationships" id="261" r:id="R61a90885a60148e5"/>
    <p:sldId xmlns:r="http://schemas.openxmlformats.org/officeDocument/2006/relationships" id="262" r:id="Rc15e25d270e84ac5"/>
    <p:sldId xmlns:r="http://schemas.openxmlformats.org/officeDocument/2006/relationships" id="263" r:id="R83bc89a6091843dd"/>
    <p:sldId xmlns:r="http://schemas.openxmlformats.org/officeDocument/2006/relationships" id="264" r:id="Rf4d1c5c9401e48b3"/>
    <p:sldId xmlns:r="http://schemas.openxmlformats.org/officeDocument/2006/relationships" id="265" r:id="Rf5fdbac9831147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dc542f692a42c5" /><Relationship Type="http://schemas.openxmlformats.org/officeDocument/2006/relationships/slideMaster" Target="/ppt/slideMasters/slideMaster1.xml" Id="R98f859b8514b406f" /><Relationship Type="http://schemas.openxmlformats.org/officeDocument/2006/relationships/notesMaster" Target="/ppt/notesMasters/notesMaster1.xml" Id="Rbac5303685fb4907" /><Relationship Type="http://schemas.openxmlformats.org/officeDocument/2006/relationships/presProps" Target="/ppt/presProps.xml" Id="Rcbdd8209bfb54043" /><Relationship Type="http://schemas.openxmlformats.org/officeDocument/2006/relationships/tableStyles" Target="/ppt/tableStyles.xml" Id="R3a235e4ec76a49c0" /><Relationship Type="http://schemas.openxmlformats.org/officeDocument/2006/relationships/slide" Target="/ppt/slides/slide1.xml" Id="R8ae8397fab6141a4" /><Relationship Type="http://schemas.openxmlformats.org/officeDocument/2006/relationships/slide" Target="/ppt/slides/slide2.xml" Id="Rd9e2b9f4f6324070" /><Relationship Type="http://schemas.openxmlformats.org/officeDocument/2006/relationships/slide" Target="/ppt/slides/slide3.xml" Id="R8800a1cecb904b52" /><Relationship Type="http://schemas.openxmlformats.org/officeDocument/2006/relationships/slide" Target="/ppt/slides/slide4.xml" Id="Re5f5adc6af1c4702" /><Relationship Type="http://schemas.openxmlformats.org/officeDocument/2006/relationships/slide" Target="/ppt/slides/slide5.xml" Id="R6675558f5d0a41b5" /><Relationship Type="http://schemas.openxmlformats.org/officeDocument/2006/relationships/slide" Target="/ppt/slides/slide6.xml" Id="R61a90885a60148e5" /><Relationship Type="http://schemas.openxmlformats.org/officeDocument/2006/relationships/slide" Target="/ppt/slides/slide7.xml" Id="Rc15e25d270e84ac5" /><Relationship Type="http://schemas.openxmlformats.org/officeDocument/2006/relationships/slide" Target="/ppt/slides/slide8.xml" Id="R83bc89a6091843dd" /><Relationship Type="http://schemas.openxmlformats.org/officeDocument/2006/relationships/slide" Target="/ppt/slides/slide9.xml" Id="Rf4d1c5c9401e48b3" /><Relationship Type="http://schemas.openxmlformats.org/officeDocument/2006/relationships/slide" Target="/ppt/slides/slide10.xml" Id="Rf5fdbac9831147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20122dfdb54e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6d2b0b77214c10" /><Relationship Type="http://schemas.openxmlformats.org/officeDocument/2006/relationships/notesMaster" Target="/ppt/notesMasters/notesMaster1.xml" Id="Rce1d1ed98a5947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d29f4fec5b4dd2" /><Relationship Type="http://schemas.openxmlformats.org/officeDocument/2006/relationships/notesMaster" Target="/ppt/notesMasters/notesMaster1.xml" Id="R52a01e38c80244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1dda8c58bb489b" /><Relationship Type="http://schemas.openxmlformats.org/officeDocument/2006/relationships/notesMaster" Target="/ppt/notesMasters/notesMaster1.xml" Id="R4d641e292e4644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3335cba85141a3" /><Relationship Type="http://schemas.openxmlformats.org/officeDocument/2006/relationships/notesMaster" Target="/ppt/notesMasters/notesMaster1.xml" Id="R084c65d0a8d040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55635cb12f4e50" /><Relationship Type="http://schemas.openxmlformats.org/officeDocument/2006/relationships/notesMaster" Target="/ppt/notesMasters/notesMaster1.xml" Id="Rbba17624923548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ee87dba244407a" /><Relationship Type="http://schemas.openxmlformats.org/officeDocument/2006/relationships/notesMaster" Target="/ppt/notesMasters/notesMaster1.xml" Id="R95c60a1f8b364c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1070f3b55e4976" /><Relationship Type="http://schemas.openxmlformats.org/officeDocument/2006/relationships/notesMaster" Target="/ppt/notesMasters/notesMaster1.xml" Id="Rb6d2f4b0768747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4614aeaec6489f" /><Relationship Type="http://schemas.openxmlformats.org/officeDocument/2006/relationships/notesMaster" Target="/ppt/notesMasters/notesMaster1.xml" Id="R3b9036ab01d94d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cad929bef94738" /><Relationship Type="http://schemas.openxmlformats.org/officeDocument/2006/relationships/notesMaster" Target="/ppt/notesMasters/notesMaster1.xml" Id="Rdfe7aabe4b9b43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6df7be58c9460b" /><Relationship Type="http://schemas.openxmlformats.org/officeDocument/2006/relationships/notesMaster" Target="/ppt/notesMasters/notesMaster1.xml" Id="Rf425040f484d49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registered team verbally. No official upay endorsement is claimed. Scope based on supplied Student Guideline, Tracks 05 and 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hypotheses, not validated upay-specific shortcomings. No customer interviews were conducted.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Accounting implementation: shurokkha/liquidity.py. Costs and commission use a separate operating ledger. A partner is assumed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artifacts/metrics.json forecast.metrics. Same-hour average uses lags seven and 14. Test: May 14–June 3, 2026 simulated dates; 756 rows. Model fixed after training.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artifacts/metrics.json liquidity.strategies. Means over 63 agent-days. Initial cash 6000, float 24000. Commission .4%; cost 25+.1% exchanged amount. ML won 24, lost four and tied 35 versus historical. Two ML actions became infeasible and were skipped.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public upay Agent app listing describes dashboard, item-wise transaction, real-time statement and commission features. These are only feature references; no private data access or actual terms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fictional pre-payment concept. No complaint registry, verified recipient identity, device telemetry or real upay connection is used. The index is not a fraud probability.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artifacts/metrics.json safety and artifacts/safety_holdout.csv. 48 train, 12 validation, 24 test. Families and their translations kept in one split. Character TF-IDF + logistic regression trained from scratch. These are not composite-index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docs/MODEL_CARD.md and held-out errors. No real-world pilot or user study. The pilot described is a proposal subject to provider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Repository: https://github.com/Rawnak-Alam/upay-shurokkha. AI-assisted development disclosed in README. Fifteen automated tests plus browser visual review. User must supply registered team details, verified live URL and recorded video before submitting.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ee2ea646a943a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8a57032d894fd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6c5b94d397412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e2869c3f88417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f717c3cd31488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3696ea3b794b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4325C5E-F17A-4C8B-A365-540FD6FD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0E64910-C4B4-4E12-8D34-817DD281DB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76350D1-3DD7-4DF2-9589-45E6110418C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BBC1DE0-7CDC-48B6-9933-B303158B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A35B52A-4C95-4D96-86A5-6EF4DA7422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2F5A09D-A576-4302-AC8F-227573D6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94FE95C-99A6-4CA0-8D2E-2A23D3C3AF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14B0BF23-4FD8-41ED-A005-9CE8D454B8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74D5D0A-D4C8-40DC-99FD-53021925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3BE7D82-3DF4-4189-A9E3-90C569CD30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97B84EC-B3D1-4A8F-836F-0B9ACD21DB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C2BC674-5A5B-4D66-8D4F-48BC3FD5D65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1757D35-D26F-44CA-8F75-A94F6234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FD3496A-B1AD-4C39-B58F-F4F31FB2FA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146D77-EAB3-431E-851D-033BE89488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473dddaa614fda" /><Relationship Type="http://schemas.openxmlformats.org/officeDocument/2006/relationships/slideLayout" Target="/ppt/slideLayouts/slideLayout1.xml" Id="R7d40f888dd574acd" /><Relationship Type="http://schemas.openxmlformats.org/officeDocument/2006/relationships/slideLayout" Target="/ppt/slideLayouts/slideLayout2.xml" Id="Raeb61a2f132f4849" /><Relationship Type="http://schemas.openxmlformats.org/officeDocument/2006/relationships/slideLayout" Target="/ppt/slideLayouts/slideLayout3.xml" Id="R2259d36968da4215" /><Relationship Type="http://schemas.openxmlformats.org/officeDocument/2006/relationships/slideLayout" Target="/ppt/slideLayouts/slideLayout4.xml" Id="R3aca2f1ece224e66" /><Relationship Type="http://schemas.openxmlformats.org/officeDocument/2006/relationships/slideLayout" Target="/ppt/slideLayouts/slideLayout5.xml" Id="R3d2227c13b4f4426" /><Relationship Type="http://schemas.openxmlformats.org/officeDocument/2006/relationships/slideLayout" Target="/ppt/slideLayouts/slideLayout6.xml" Id="R9299e0cb511e49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40f888dd574acd"/>
    <p:sldLayoutId xmlns:r="http://schemas.openxmlformats.org/officeDocument/2006/relationships" id="2147483650" r:id="Raeb61a2f132f4849"/>
    <p:sldLayoutId xmlns:r="http://schemas.openxmlformats.org/officeDocument/2006/relationships" id="2147483651" r:id="R2259d36968da4215"/>
    <p:sldLayoutId xmlns:r="http://schemas.openxmlformats.org/officeDocument/2006/relationships" id="2147483652" r:id="R3aca2f1ece224e66"/>
    <p:sldLayoutId xmlns:r="http://schemas.openxmlformats.org/officeDocument/2006/relationships" id="2147483653" r:id="R3d2227c13b4f4426"/>
    <p:sldLayoutId xmlns:r="http://schemas.openxmlformats.org/officeDocument/2006/relationships" id="2147483654" r:id="R9299e0cb511e49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0fd73dbe544711" /><Relationship Type="http://schemas.openxmlformats.org/officeDocument/2006/relationships/notesSlide" Target="/ppt/notesSlides/notesSlide1.xml" Id="R7785c523486347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f7d57d94c84d1e" /><Relationship Type="http://schemas.openxmlformats.org/officeDocument/2006/relationships/notesSlide" Target="/ppt/notesSlides/notesSlide2.xml" Id="Rebb07756df6243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e271e396524851" /><Relationship Type="http://schemas.openxmlformats.org/officeDocument/2006/relationships/notesSlide" Target="/ppt/notesSlides/notesSlide3.xml" Id="R1979e380fbe94b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6c30b0491e40a0" /><Relationship Type="http://schemas.openxmlformats.org/officeDocument/2006/relationships/chart" Target="/ppt/slides/charts/chart1.xml" Id="Rea20fa16e3e14a59" /><Relationship Type="http://schemas.openxmlformats.org/officeDocument/2006/relationships/notesSlide" Target="/ppt/notesSlides/notesSlide4.xml" Id="R2ab2fe844b8d4b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5bc72c6b554aec" /><Relationship Type="http://schemas.openxmlformats.org/officeDocument/2006/relationships/chart" Target="/ppt/slides/charts/chart2.xml" Id="Rf1a9513dafbd47a0" /><Relationship Type="http://schemas.openxmlformats.org/officeDocument/2006/relationships/notesSlide" Target="/ppt/notesSlides/notesSlide5.xml" Id="Rab65ee11bf3442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a8633a96c546f9" /><Relationship Type="http://schemas.openxmlformats.org/officeDocument/2006/relationships/notesSlide" Target="/ppt/notesSlides/notesSlide6.xml" Id="Raff01a85fc9d44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01c9bc444e48ab" /><Relationship Type="http://schemas.openxmlformats.org/officeDocument/2006/relationships/notesSlide" Target="/ppt/notesSlides/notesSlide7.xml" Id="Re9fd8e0f9f1a4c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47e05ed01640b3" /><Relationship Type="http://schemas.openxmlformats.org/officeDocument/2006/relationships/chart" Target="/ppt/slides/charts/chart3.xml" Id="R481f118c9f504943" /><Relationship Type="http://schemas.openxmlformats.org/officeDocument/2006/relationships/notesSlide" Target="/ppt/notesSlides/notesSlide8.xml" Id="R8247d19eed1342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38cf1ddd7e4e37" /><Relationship Type="http://schemas.openxmlformats.org/officeDocument/2006/relationships/notesSlide" Target="/ppt/notesSlides/notesSlide9.xml" Id="Re4a6196ffd2d4b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49d469772247a0" /><Relationship Type="http://schemas.openxmlformats.org/officeDocument/2006/relationships/notesSlide" Target="/ppt/notesSlides/notesSlide10.xml" Id="R454e1ad1d4e4442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Historical average</c:v>
          </c:tx>
          <c:spPr>
            <a:solidFill xmlns:a="http://schemas.openxmlformats.org/drawingml/2006/main">
              <a:srgbClr val="9CAFC1"/>
            </a:solidFill>
          </c:spPr>
          <c:cat>
            <c:strLit>
              <c:ptCount val="2"/>
              <c:pt idx="0">
                <c:v>Cash-in</c:v>
              </c:pt>
              <c:pt idx="1">
                <c:v>Cash-out</c:v>
              </c:pt>
            </c:strLit>
          </c:cat>
          <c:val>
            <c:numLit>
              <c:formatCode>0</c:formatCode>
              <c:ptCount val="2"/>
              <c:pt idx="0">
                <c:v>1466.07</c:v>
              </c:pt>
              <c:pt idx="1">
                <c:v>2274.67</c:v>
              </c:pt>
            </c:numLit>
          </c:val>
        </c:ser>
        <c:ser>
          <c:idx val="1"/>
          <c:order val="1"/>
          <c:tx>
            <c:v>Extra Trees</c:v>
          </c:tx>
          <c:spPr>
            <a:solidFill xmlns:a="http://schemas.openxmlformats.org/drawingml/2006/main">
              <a:srgbClr val="07866E"/>
            </a:solidFill>
          </c:spPr>
          <c:cat>
            <c:strLit>
              <c:ptCount val="2"/>
              <c:pt idx="0">
                <c:v>Cash-in</c:v>
              </c:pt>
              <c:pt idx="1">
                <c:v>Cash-out</c:v>
              </c:pt>
            </c:strLit>
          </c:cat>
          <c:val>
            <c:numLit>
              <c:formatCode>0</c:formatCode>
              <c:ptCount val="2"/>
              <c:pt idx="0">
                <c:v>1209.83</c:v>
              </c:pt>
              <c:pt idx="1">
                <c:v>1613.86</c:v>
              </c:pt>
            </c:numLit>
          </c:val>
        </c:ser>
        <c:dLbls>
          <c:numFmt formatCode="0.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Hourly MAE (BDT)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9FB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F7F9FB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Net earnings</c:v>
          </c:tx>
          <c:spPr>
            <a:solidFill xmlns:a="http://schemas.openxmlformats.org/drawingml/2006/main">
              <a:srgbClr val="07866E"/>
            </a:solidFill>
          </c:spPr>
          <c:cat>
            <c:strLit>
              <c:ptCount val="4"/>
              <c:pt idx="0">
                <c:v>Fixed 50/50</c:v>
              </c:pt>
              <c:pt idx="1">
                <c:v>Historical +
optimizer</c:v>
              </c:pt>
              <c:pt idx="2">
                <c:v>No action</c:v>
              </c:pt>
              <c:pt idx="3">
                <c:v>ML +
optimizer</c:v>
              </c:pt>
            </c:strLit>
          </c:cat>
          <c:val>
            <c:numLit>
              <c:formatCode>0</c:formatCode>
              <c:ptCount val="4"/>
              <c:pt idx="0">
                <c:v>316.356</c:v>
              </c:pt>
              <c:pt idx="1">
                <c:v>328.889</c:v>
              </c:pt>
              <c:pt idx="2">
                <c:v>334.654</c:v>
              </c:pt>
              <c:pt idx="3">
                <c:v>339.876</c:v>
              </c:pt>
            </c:numLit>
          </c:val>
        </c:ser>
        <c:dLbls>
          <c:numFmt formatCode="0.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BDT per agent-day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9FB"/>
        </a:solidFill>
      </c:spPr>
    </c:plotArea>
    <c:plotVisOnly val="1"/>
  </c:chart>
  <c:spPr>
    <a:solidFill xmlns:a="http://schemas.openxmlformats.org/drawingml/2006/main">
      <a:srgbClr val="F7F9FB"/>
    </a:solidFill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ML text classifier</c:v>
          </c:tx>
          <c:spPr>
            <a:solidFill xmlns:a="http://schemas.openxmlformats.org/drawingml/2006/main">
              <a:srgbClr val="07866E"/>
            </a:solidFill>
          </c:spPr>
          <c:cat>
            <c:strLit>
              <c:ptCount val="4"/>
              <c:pt idx="0">
                <c:v>True alerts</c:v>
              </c:pt>
              <c:pt idx="1">
                <c:v>False alerts</c:v>
              </c:pt>
              <c:pt idx="2">
                <c:v>Missed scams</c:v>
              </c:pt>
              <c:pt idx="3">
                <c:v>Correct
non-alerts</c:v>
              </c:pt>
            </c:strLit>
          </c:cat>
          <c:val>
            <c:numLit>
              <c:formatCode>0</c:formatCode>
              <c:ptCount val="4"/>
              <c:pt idx="0">
                <c:v>11</c:v>
              </c:pt>
              <c:pt idx="1">
                <c:v>2</c:v>
              </c:pt>
              <c:pt idx="2">
                <c:v>1</c:v>
              </c:pt>
              <c:pt idx="3">
                <c:v>10</c:v>
              </c:pt>
            </c:numLit>
          </c:val>
        </c:ser>
        <c:ser>
          <c:idx val="1"/>
          <c:order val="1"/>
          <c:tx>
            <c:v>Keyword baseline</c:v>
          </c:tx>
          <c:spPr>
            <a:solidFill xmlns:a="http://schemas.openxmlformats.org/drawingml/2006/main">
              <a:srgbClr val="9CAFC1"/>
            </a:solidFill>
          </c:spPr>
          <c:cat>
            <c:strLit>
              <c:ptCount val="4"/>
              <c:pt idx="0">
                <c:v>True alerts</c:v>
              </c:pt>
              <c:pt idx="1">
                <c:v>False alerts</c:v>
              </c:pt>
              <c:pt idx="2">
                <c:v>Missed scams</c:v>
              </c:pt>
              <c:pt idx="3">
                <c:v>Correct
non-alerts</c:v>
              </c:pt>
            </c:strLit>
          </c:cat>
          <c:val>
            <c:numLit>
              <c:formatCode>0</c:formatCode>
              <c:ptCount val="4"/>
              <c:pt idx="0">
                <c:v>3</c:v>
              </c:pt>
              <c:pt idx="1">
                <c:v>3</c:v>
              </c:pt>
              <c:pt idx="2">
                <c:v>9</c:v>
              </c:pt>
              <c:pt idx="3">
                <c:v>9</c:v>
              </c:pt>
            </c:numLit>
          </c:val>
        </c:ser>
        <c:dLbls>
          <c:numFmt formatCode="0.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Sentence count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9FB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F7F9FB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8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1E2FA-7765-4D57-907C-4A369500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66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UPAY</a:t>
            </a:r>
          </a:p>
          <a:p xmlns:a="http://schemas.openxmlformats.org/drawingml/2006/main">
            <a:pPr>
              <a:defRPr sz="6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SHUROKKHA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1FC55-361C-44A7-B716-F165A0EF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76DEC1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76DEC1"/>
                </a:solidFill>
                <a:latin typeface="DejaVu Sans"/>
                <a:ea typeface="DejaVu Sans"/>
                <a:cs typeface="DejaVu Sans"/>
              </a:rPr>
              <a:t>Safer payments. Smarter agent liquidity.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FA735-0CB9-4AE2-9ACA-7B16B99B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911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5E1E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D5E1ED"/>
                </a:solidFill>
                <a:latin typeface="DejaVu Sans"/>
                <a:ea typeface="DejaVu Sans"/>
                <a:cs typeface="DejaVu Sans"/>
              </a:rPr>
              <a:t>AI Hackathon 2026 · DIU CPC × upay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262FA-E4D7-4A7F-9A19-CDF09F83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9BFD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A9BFD1"/>
                </a:solidFill>
                <a:latin typeface="DejaVu Sans"/>
                <a:ea typeface="DejaVu Sans"/>
                <a:cs typeface="DejaVu Sans"/>
              </a:rPr>
              <a:t>Independent prototype · Synthetic data only</a:t>
            </a:r>
          </a:p>
        </p:txBody>
      </p:sp>
    </p:spTree>
    <p:extLst>
      <p:ext uri="{BB962C8B-B14F-4D97-AF65-F5344CB8AC3E}">
        <p14:creationId xmlns:p14="http://schemas.microsoft.com/office/powerpoint/2010/main" val="5299953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D2C928-14B9-4B4B-A0FF-25AEC50C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Decisions the prototype supports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70481-6AC1-44D6-B975-0D3CB12C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866E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7866E"/>
                </a:solidFill>
                <a:latin typeface="DejaVu Sans"/>
                <a:ea typeface="DejaVu Sans"/>
                <a:cs typeface="DejaVu Sans"/>
              </a:rPr>
              <a:t>For agents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11740-E779-4D44-85E3-6B8410B9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504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Will I have enough cash and float</a:t>
            </a:r>
          </a:p>
          <a:p xmlns:a="http://schemas.openxmlformats.org/drawingml/2006/main">
            <a:pPr>
              <a:defRPr sz="2550" b="1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for the next customer?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FDD0A-198F-42EC-8B70-B0333C44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50958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Forecast both demand streams.</a:t>
            </a:r>
          </a:p>
          <a:p xmlns:a="http://schemas.openxmlformats.org/drawingml/2006/main">
            <a:pPr>
              <a:defRPr sz="2025" b="0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Choose an affordable exchange.</a:t>
            </a:r>
          </a:p>
          <a:p xmlns:a="http://schemas.openxmlformats.org/drawingml/2006/main">
            <a:pPr>
              <a:defRPr sz="2025" b="0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Measure served demand and net costs.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6F7C64-D639-49D4-910E-04328D23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76212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866E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7866E"/>
                </a:solidFill>
                <a:latin typeface="DejaVu Sans"/>
                <a:ea typeface="DejaVu Sans"/>
                <a:cs typeface="DejaVu Sans"/>
              </a:rPr>
              <a:t>For customers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29DE6-FA46-4FFB-A4F6-CB78900A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428875"/>
            <a:ext cx="485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What should I verify</a:t>
            </a:r>
          </a:p>
          <a:p xmlns:a="http://schemas.openxmlformats.org/drawingml/2006/main">
            <a:pPr>
              <a:defRPr sz="2550" b="1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before sending?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13538-1013-4225-A48C-365E3490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114800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Read the payment context.</a:t>
            </a:r>
          </a:p>
          <a:p xmlns:a="http://schemas.openxmlformats.org/drawingml/2006/main">
            <a:pPr>
              <a:defRPr sz="2025" b="0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Explain the warning signs.</a:t>
            </a:r>
          </a:p>
          <a:p xmlns:a="http://schemas.openxmlformats.org/drawingml/2006/main">
            <a:pPr>
              <a:defRPr sz="2025" b="0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Offer a safe next action and review.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DF2BF-E055-4102-81D0-F87722B7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77A"/>
                </a:solidFill>
                <a:latin typeface="DejaVu Sans"/>
                <a:ea typeface="DejaVu Sans"/>
                <a:cs typeface="DejaVu Sans"/>
              </a:rPr>
              <a:t>Primary track: Merchant &amp; Agent Intelligence · Supporting capability: Trust &amp; Risk Intelligence</a:t>
            </a:r>
          </a:p>
        </p:txBody>
      </p:sp>
    </p:spTree>
    <p:extLst>
      <p:ext uri="{BB962C8B-B14F-4D97-AF65-F5344CB8AC3E}">
        <p14:creationId xmlns:p14="http://schemas.microsoft.com/office/powerpoint/2010/main" val="5128044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1267DF-FE75-413F-AC5C-DCB34971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Cash and float move in opposite directions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6D55B-EA81-4CAF-930B-CDDC475B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Customer cash-in: 1,000 BDT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CF44A-5DBD-42B5-9D33-B57C4D3A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07866E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07866E"/>
                </a:solidFill>
                <a:latin typeface="DejaVu Sans"/>
                <a:ea typeface="DejaVu Sans"/>
                <a:cs typeface="DejaVu Sans"/>
              </a:rPr>
              <a:t>Agent cash +1,000     |     Agent float −1,000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772B4-30B1-418B-A60B-C646E11E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Customer cash-out: 1,000 BDT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66B43-1FDB-497A-A3B0-0A05DBD0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07866E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07866E"/>
                </a:solidFill>
                <a:latin typeface="DejaVu Sans"/>
                <a:ea typeface="DejaVu Sans"/>
                <a:cs typeface="DejaVu Sans"/>
              </a:rPr>
              <a:t>Agent cash −1,000     |     Agent float +1,000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89157E-0C97-4ECB-8EF3-ACA15C90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An exchange changes the balance mix. Total working capital stays constant.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61DF0-1072-411C-9FA8-3F2CD261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77A"/>
                </a:solidFill>
                <a:latin typeface="DejaVu Sans"/>
                <a:ea typeface="DejaVu Sans"/>
                <a:cs typeface="DejaVu Sans"/>
              </a:rPr>
              <a:t>The optimizer includes no action and skips exchanges that become unaffordable.</a:t>
            </a:r>
          </a:p>
        </p:txBody>
      </p:sp>
    </p:spTree>
    <p:extLst>
      <p:ext uri="{BB962C8B-B14F-4D97-AF65-F5344CB8AC3E}">
        <p14:creationId xmlns:p14="http://schemas.microsoft.com/office/powerpoint/2010/main" val="7651400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5FD9FE-AD5B-4F35-846D-2880EBFA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Forecast error on unseen days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10763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20fa16e3e14a59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0C1C5-1661-44DB-986A-9521ED6E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77A"/>
                </a:solidFill>
                <a:latin typeface="DejaVu Sans"/>
                <a:ea typeface="DejaVu Sans"/>
                <a:cs typeface="DejaVu Sans"/>
              </a:rPr>
              <a:t>Lower is better · 3 agents × 21 test days × 12 hours · All demand is synthetic</a:t>
            </a:r>
          </a:p>
        </p:txBody>
      </p:sp>
    </p:spTree>
    <p:extLst>
      <p:ext uri="{BB962C8B-B14F-4D97-AF65-F5344CB8AC3E}">
        <p14:creationId xmlns:p14="http://schemas.microsoft.com/office/powerpoint/2010/main" val="8382154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8FC85-4E12-4A3F-9903-679DE8F4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Net earnings after exchange costs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10477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a9513dafbd47a0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8DBF7-8F78-4E44-BEFF-8DAE8E29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+10.99 BDT vs historical forecasting; +5.22 BDT vs no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CD7A7-ADAF-46F1-B0DF-850A37B4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77A"/>
                </a:solidFill>
                <a:latin typeface="DejaVu Sans"/>
                <a:ea typeface="DejaVu Sans"/>
                <a:cs typeface="DejaVu Sans"/>
              </a:rPr>
              <a:t>Illustrative rates and capital · These outcomes do not establish commercial returns</a:t>
            </a:r>
          </a:p>
        </p:txBody>
      </p:sp>
    </p:spTree>
    <p:extLst>
      <p:ext uri="{BB962C8B-B14F-4D97-AF65-F5344CB8AC3E}">
        <p14:creationId xmlns:p14="http://schemas.microsoft.com/office/powerpoint/2010/main" val="10167583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7087A-B14F-46FB-BA4B-CD8627AA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Agent Planning: a clear next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174CB-7BC8-4DA8-8EBE-ED08BC8E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866E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7866E"/>
                </a:solidFill>
                <a:latin typeface="DejaVu Sans"/>
                <a:ea typeface="DejaVu Sans"/>
                <a:cs typeface="DejaVu Sans"/>
              </a:rPr>
              <a:t>Inputs visible to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9B680C-619D-45DE-8214-F99924F8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Counted physical cash + sample electronic float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DB649-923A-4FFA-B42B-8E34C079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866E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7866E"/>
                </a:solidFill>
                <a:latin typeface="DejaVu Sans"/>
                <a:ea typeface="DejaVu Sans"/>
                <a:cs typeface="DejaVu Sans"/>
              </a:rPr>
              <a:t>Suggestion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B08E5-7F6C-4DB6-9779-7DB375EC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Exchange an affordable amount before the busy hour, or keep balances.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B27E2D-7112-4A00-9414-B6E4347B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Why: fictional transaction history, forecast cash-in/out, assumed exchange cost.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B3FBA-BF2E-4A94-BD4F-A0AE8B42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77A"/>
                </a:solidFill>
                <a:latin typeface="DejaVu Sans"/>
                <a:ea typeface="DejaVu Sans"/>
                <a:cs typeface="DejaVu Sans"/>
              </a:rPr>
              <a:t>The actual synthetic day can be revealed for a same-demand comparison.</a:t>
            </a:r>
          </a:p>
        </p:txBody>
      </p:sp>
    </p:spTree>
    <p:extLst>
      <p:ext uri="{BB962C8B-B14F-4D97-AF65-F5344CB8AC3E}">
        <p14:creationId xmlns:p14="http://schemas.microsoft.com/office/powerpoint/2010/main" val="16984636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5211E8-F23C-4A1F-B5EB-4E242BBA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Payment Safety: explain each 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5C25C4-0A1C-4938-8E6E-FE83DCA9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866E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7866E"/>
                </a:solidFill>
                <a:latin typeface="DejaVu Sans"/>
                <a:ea typeface="DejaVu Sans"/>
                <a:cs typeface="DejaVu Sans"/>
              </a:rPr>
              <a:t>Customer enters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CFADA-62E3-41EF-9D3B-3543F2C2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Amount and optional reason for sending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7A0D67-2DD4-4D2B-AB4A-6BCB5A3C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866E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7866E"/>
                </a:solidFill>
                <a:latin typeface="DejaVu Sans"/>
                <a:ea typeface="DejaVu Sans"/>
                <a:cs typeface="DejaVu Sans"/>
              </a:rPr>
              <a:t>Fictional history provides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F44D1C-895E-42B7-99DE-A0A768E1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Usual amount and whether this is a first payment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EAD3C-2E3D-40B6-BD5E-6024E3BA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Output: concern, reasons, independent verification and a demo choice.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A724C9-96FC-4AC4-A288-D2502C33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77A"/>
                </a:solidFill>
                <a:latin typeface="DejaVu Sans"/>
                <a:ea typeface="DejaVu Sans"/>
                <a:cs typeface="DejaVu Sans"/>
              </a:rPr>
              <a:t>A legitimate hospital bill may still raise concern · No real money moves</a:t>
            </a:r>
          </a:p>
        </p:txBody>
      </p:sp>
    </p:spTree>
    <p:extLst>
      <p:ext uri="{BB962C8B-B14F-4D97-AF65-F5344CB8AC3E}">
        <p14:creationId xmlns:p14="http://schemas.microsoft.com/office/powerpoint/2010/main" val="16284880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2C3AA-86F0-4305-B45B-313B44A2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Text classifier: useful signal, small test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10477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1f118c9f504943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BC5BB-81D6-40C2-B1DE-1BBBFF5C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84.6% precision · 91.7% recall · 16.7% false-warning rate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DA3FE-2899-4C84-B0E8-A7C4BDC0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77A"/>
                </a:solidFill>
                <a:latin typeface="DejaVu Sans"/>
                <a:ea typeface="DejaVu Sans"/>
                <a:cs typeface="DejaVu Sans"/>
              </a:rPr>
              <a:t>Only 24 test sentences, eight per language · Full concern score is not calibrated</a:t>
            </a:r>
          </a:p>
        </p:txBody>
      </p:sp>
    </p:spTree>
    <p:extLst>
      <p:ext uri="{BB962C8B-B14F-4D97-AF65-F5344CB8AC3E}">
        <p14:creationId xmlns:p14="http://schemas.microsoft.com/office/powerpoint/2010/main" val="10369032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904BA-FF40-444B-AD77-2BE7391F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Limits that shape the next experiment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C5F5C-E693-4841-A4E6-B5FC2CC5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7866E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7866E"/>
                </a:solidFill>
                <a:latin typeface="DejaVu Sans"/>
                <a:ea typeface="DejaVu Sans"/>
                <a:cs typeface="DejaVu Sans"/>
              </a:rPr>
              <a:t>Liquidity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6FC4B-BC79-4AD5-9037-CDE06211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Refused demand may be missing from real histories.</a:t>
            </a:r>
          </a:p>
          <a:p xmlns:a="http://schemas.openxmlformats.org/drawingml/2006/main">
            <a:pPr>
              <a:defRPr sz="2100" b="0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Partner availability, travel time and financing need modeling.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067BB-951B-4CD9-857F-98F04406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7866E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7866E"/>
                </a:solidFill>
                <a:latin typeface="DejaVu Sans"/>
                <a:ea typeface="DejaVu Sans"/>
                <a:cs typeface="DejaVu Sans"/>
              </a:rPr>
              <a:t>Payment safety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0C0BC-11FD-4E33-AB21-7AD2793A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Negation and paraphrases can cause mistakes.</a:t>
            </a:r>
          </a:p>
          <a:p xmlns:a="http://schemas.openxmlformats.org/drawingml/2006/main">
            <a:pPr>
              <a:defRPr sz="2100" b="0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New-account and language cohorts need much larger tests.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9B535-91D8-4745-94C6-F247A30F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Pilot first in shadow mode, then test human-approved actions.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A68C1C-0C2D-4AF8-A57F-069EE04E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77A"/>
                </a:solidFill>
                <a:latin typeface="DejaVu Sans"/>
                <a:ea typeface="DejaVu Sans"/>
                <a:cs typeface="DejaVu Sans"/>
              </a:rPr>
              <a:t>Measure full net costs, missed demand, false warnings, reviewer effort and comprehension.</a:t>
            </a:r>
          </a:p>
        </p:txBody>
      </p:sp>
    </p:spTree>
    <p:extLst>
      <p:ext uri="{BB962C8B-B14F-4D97-AF65-F5344CB8AC3E}">
        <p14:creationId xmlns:p14="http://schemas.microsoft.com/office/powerpoint/2010/main" val="12455785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AC72C-2702-4580-8AAC-9E734834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Working prototype and Phase 2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7726B-C79B-480B-8B22-6CAFB540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866E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7866E"/>
                </a:solidFill>
                <a:latin typeface="DejaVu Sans"/>
                <a:ea typeface="DejaVu Sans"/>
                <a:cs typeface="DejaVu Sans"/>
              </a:rPr>
              <a:t>Built and reproducible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AD920-CE02-4503-8B6C-60E0921A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Application, synthetic data, models, policy, evaluation,</a:t>
            </a:r>
          </a:p>
          <a:p xmlns:a="http://schemas.openxmlformats.org/drawingml/2006/main">
            <a:pPr>
              <a:defRPr sz="2250" b="0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15 automated tests, report and demonstration script.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06B7B-B58B-4411-AF4E-09999FFF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866E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7866E"/>
                </a:solidFill>
                <a:latin typeface="DejaVu Sans"/>
                <a:ea typeface="DejaVu Sans"/>
                <a:cs typeface="DejaVu Sans"/>
              </a:rPr>
              <a:t>Adaptable for on-site requirements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0E31D-997D-4ACA-A111-9566E7FB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0532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Change capital and costs, add partner constraints,</a:t>
            </a:r>
          </a:p>
          <a:p xmlns:a="http://schemas.openxmlformats.org/drawingml/2006/main">
            <a:pPr>
              <a:defRPr sz="2250" b="0">
                <a:solidFill>
                  <a:srgbClr val="14283E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83E"/>
                </a:solidFill>
                <a:latin typeface="DejaVu Sans"/>
                <a:ea typeface="DejaVu Sans"/>
                <a:cs typeface="DejaVu Sans"/>
              </a:rPr>
              <a:t>update forecasts or revise the review policy.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715D3-B48E-4A4D-AD38-171B97C1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77A"/>
                </a:solidFill>
                <a:latin typeface="DejaVu Sans"/>
                <a:ea typeface="DejaVu Sans"/>
                <a:cs typeface="DejaVu Sans"/>
              </a:rPr>
              <a:t>github.com/Rawnak-Alam/upay-shurokkha · AI assistance disclosed; team validation required</a:t>
            </a:r>
          </a:p>
        </p:txBody>
      </p:sp>
    </p:spTree>
    <p:extLst>
      <p:ext uri="{BB962C8B-B14F-4D97-AF65-F5344CB8AC3E}">
        <p14:creationId xmlns:p14="http://schemas.microsoft.com/office/powerpoint/2010/main" val="4430087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2026-10-03T22:28:22.4440000Z</dcterms:created>
  <dcterms:modified xsi:type="dcterms:W3CDTF">2026-10-03T22:28:22.4440000Z</dcterms:modified>
</coreProperties>
</file>