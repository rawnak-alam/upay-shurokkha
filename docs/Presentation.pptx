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ffbfd69d0442b7" /><Relationship Type="http://schemas.openxmlformats.org/officeDocument/2006/relationships/extended-properties" Target="/docProps/app.xml" Id="R609e1694f22f4a66" /><Relationship Type="http://schemas.openxmlformats.org/officeDocument/2006/relationships/officeDocument" Target="/ppt/presentation.xml" Id="R9b1fd61a788e46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cba0338b9c42cf"/>
  </p:sldMasterIdLst>
  <p:notesMasterIdLst>
    <p:notesMasterId xmlns:r="http://schemas.openxmlformats.org/officeDocument/2006/relationships" r:id="Rc4c899e0138042bf"/>
  </p:notesMasterIdLst>
  <p:sldIdLst>
    <p:sldId xmlns:r="http://schemas.openxmlformats.org/officeDocument/2006/relationships" id="256" r:id="R08b601e9bc064fbe"/>
    <p:sldId xmlns:r="http://schemas.openxmlformats.org/officeDocument/2006/relationships" id="257" r:id="R65dafd8ad9754169"/>
    <p:sldId xmlns:r="http://schemas.openxmlformats.org/officeDocument/2006/relationships" id="258" r:id="Ree2113e67dc6460b"/>
    <p:sldId xmlns:r="http://schemas.openxmlformats.org/officeDocument/2006/relationships" id="259" r:id="Rf9e518b873774a82"/>
    <p:sldId xmlns:r="http://schemas.openxmlformats.org/officeDocument/2006/relationships" id="260" r:id="Rf9090e6db27545d2"/>
    <p:sldId xmlns:r="http://schemas.openxmlformats.org/officeDocument/2006/relationships" id="261" r:id="R86ba259ba9b4499c"/>
    <p:sldId xmlns:r="http://schemas.openxmlformats.org/officeDocument/2006/relationships" id="262" r:id="R91279c0c122c4a02"/>
    <p:sldId xmlns:r="http://schemas.openxmlformats.org/officeDocument/2006/relationships" id="263" r:id="R88d73e43102d4ef4"/>
    <p:sldId xmlns:r="http://schemas.openxmlformats.org/officeDocument/2006/relationships" id="264" r:id="Rc52df8e2863c4490"/>
    <p:sldId xmlns:r="http://schemas.openxmlformats.org/officeDocument/2006/relationships" id="265" r:id="R55406f9b05a649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85866967144edc" /><Relationship Type="http://schemas.openxmlformats.org/officeDocument/2006/relationships/slideMaster" Target="/ppt/slideMasters/slideMaster1.xml" Id="R0bcba0338b9c42cf" /><Relationship Type="http://schemas.openxmlformats.org/officeDocument/2006/relationships/notesMaster" Target="/ppt/notesMasters/notesMaster1.xml" Id="Rc4c899e0138042bf" /><Relationship Type="http://schemas.openxmlformats.org/officeDocument/2006/relationships/presProps" Target="/ppt/presProps.xml" Id="Rc36839176a264230" /><Relationship Type="http://schemas.openxmlformats.org/officeDocument/2006/relationships/tableStyles" Target="/ppt/tableStyles.xml" Id="R1abd0f049ea24d1d" /><Relationship Type="http://schemas.openxmlformats.org/officeDocument/2006/relationships/slide" Target="/ppt/slides/slide1.xml" Id="R08b601e9bc064fbe" /><Relationship Type="http://schemas.openxmlformats.org/officeDocument/2006/relationships/slide" Target="/ppt/slides/slide2.xml" Id="R65dafd8ad9754169" /><Relationship Type="http://schemas.openxmlformats.org/officeDocument/2006/relationships/slide" Target="/ppt/slides/slide3.xml" Id="Ree2113e67dc6460b" /><Relationship Type="http://schemas.openxmlformats.org/officeDocument/2006/relationships/slide" Target="/ppt/slides/slide4.xml" Id="Rf9e518b873774a82" /><Relationship Type="http://schemas.openxmlformats.org/officeDocument/2006/relationships/slide" Target="/ppt/slides/slide5.xml" Id="Rf9090e6db27545d2" /><Relationship Type="http://schemas.openxmlformats.org/officeDocument/2006/relationships/slide" Target="/ppt/slides/slide6.xml" Id="R86ba259ba9b4499c" /><Relationship Type="http://schemas.openxmlformats.org/officeDocument/2006/relationships/slide" Target="/ppt/slides/slide7.xml" Id="R91279c0c122c4a02" /><Relationship Type="http://schemas.openxmlformats.org/officeDocument/2006/relationships/slide" Target="/ppt/slides/slide8.xml" Id="R88d73e43102d4ef4" /><Relationship Type="http://schemas.openxmlformats.org/officeDocument/2006/relationships/slide" Target="/ppt/slides/slide9.xml" Id="Rc52df8e2863c4490" /><Relationship Type="http://schemas.openxmlformats.org/officeDocument/2006/relationships/slide" Target="/ppt/slides/slide10.xml" Id="R55406f9b05a649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81ce42788640b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b495902fef460d" /><Relationship Type="http://schemas.openxmlformats.org/officeDocument/2006/relationships/notesMaster" Target="/ppt/notesMasters/notesMaster1.xml" Id="R4ba66e1034a04d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97ce9bd7284f2a" /><Relationship Type="http://schemas.openxmlformats.org/officeDocument/2006/relationships/notesMaster" Target="/ppt/notesMasters/notesMaster1.xml" Id="R5c1a217b0c4040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15d1d482cf4ef0" /><Relationship Type="http://schemas.openxmlformats.org/officeDocument/2006/relationships/notesMaster" Target="/ppt/notesMasters/notesMaster1.xml" Id="R42be44b030af49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01380e5b90d455f" /><Relationship Type="http://schemas.openxmlformats.org/officeDocument/2006/relationships/notesMaster" Target="/ppt/notesMasters/notesMaster1.xml" Id="R5dc6f5f9539649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b6ef66037c4bef" /><Relationship Type="http://schemas.openxmlformats.org/officeDocument/2006/relationships/notesMaster" Target="/ppt/notesMasters/notesMaster1.xml" Id="R5150d77bc24542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7bab49f5c14cc5" /><Relationship Type="http://schemas.openxmlformats.org/officeDocument/2006/relationships/notesMaster" Target="/ppt/notesMasters/notesMaster1.xml" Id="R683cab29c4404c4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bf2449c8d14dac" /><Relationship Type="http://schemas.openxmlformats.org/officeDocument/2006/relationships/notesMaster" Target="/ppt/notesMasters/notesMaster1.xml" Id="Rccdb54473c8342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9adb7cfb944881" /><Relationship Type="http://schemas.openxmlformats.org/officeDocument/2006/relationships/notesMaster" Target="/ppt/notesMasters/notesMaster1.xml" Id="R6ea0dd9be5c54c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d94f09d1a2e461a" /><Relationship Type="http://schemas.openxmlformats.org/officeDocument/2006/relationships/notesMaster" Target="/ppt/notesMasters/notesMaster1.xml" Id="Ra25560015f5245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2c79ce24104665" /><Relationship Type="http://schemas.openxmlformats.org/officeDocument/2006/relationships/notesMaster" Target="/ppt/notesMasters/notesMaster1.xml" Id="R9465a84dc34549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registered team verbally. No official upay endorsement is claimed. Scope based on supplied Student Guideline, Tracks 05 and 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hypotheses, not validated upay-specific shortcomings. No customer interviews were conducted.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Accounting implementation: shurokkha/liquidity.py. Costs and commission use a separate operating ledger. A partner is assumed available.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artifacts/metrics.json forecast.metrics. Same-hour average uses lags seven and 14. Test: May 14–June 3, 2026 simulated dates; 756 rows. Model fixed after 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artifacts/metrics.json liquidity.strategies. Means over 63 agent-days. Initial cash 6000, float 24000. Commission .4%; cost 25+.1% exchanged amount. ML won 24, lost four and tied 35 versus historical. Two ML actions became infeasible and were skipped.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public upay Agent app listing describes dashboard, item-wise transaction, real-time statement and commission features. These are only feature references; no private data access or actual terms are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fictional pre-payment concept. No complaint registry, verified recipient identity, device telemetry or real upay connection is used. The index is not a fraud probability.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artifacts/metrics.json safety and artifacts/safety_holdout.csv. 48 train, 12 validation, 24 test. Families and their translations kept in one split. Character TF-IDF + logistic regression trained from scratch. These are not composite-index metrics.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docs/MODEL_CARD.md and held-out errors. No real-world pilot or user study. The pilot described is a proposal subject to provider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https://github.com/Rawnak-Alam/upay-shurokkha. AI-assisted development disclosed in README. Fifteen automated tests plus browser visual review. User must supply registered team details, verified live URL and recorded video before submitting.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fdf52e6f0740d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ac63dccd4d4a6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2a1ca819d64fa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a55df410f04eb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27fbb3396b4ea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7b00b723834c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B3BF13F-F196-4F2D-ACF6-41427CEF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9B7ABEC-A140-48F1-89BC-8D0996B548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10C314C-79E9-4F77-BD20-6C5F3E3D899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A5433A2-39A0-4B30-924A-484A1C34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CEDC2C7-5DE6-4EC8-B97D-670836C544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CE9963D-69DC-47FD-9986-4F5082C4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8EB6B13-9727-42B7-A131-C64AF4B6E3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BC02CDE2-99C4-46BA-A773-E30CCB9995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DD5A8FA-1979-464C-86DC-E1C1725C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946BE16-7709-4A81-93C9-E663E9C600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BED6F74-6EBD-47EE-BAC2-50572E0DEB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CEBC8A3-C608-4EF9-B05C-B650178FFA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9ACB0D7-034A-4FD7-B70C-97BF023D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285C15A-5353-4307-9EE1-217319548A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76E9811-CF16-4C97-A846-0DEFF51487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aba51801814524" /><Relationship Type="http://schemas.openxmlformats.org/officeDocument/2006/relationships/slideLayout" Target="/ppt/slideLayouts/slideLayout1.xml" Id="R0cafa17f65064786" /><Relationship Type="http://schemas.openxmlformats.org/officeDocument/2006/relationships/slideLayout" Target="/ppt/slideLayouts/slideLayout2.xml" Id="R134f783c747f4e6f" /><Relationship Type="http://schemas.openxmlformats.org/officeDocument/2006/relationships/slideLayout" Target="/ppt/slideLayouts/slideLayout3.xml" Id="Rffa26b881054443b" /><Relationship Type="http://schemas.openxmlformats.org/officeDocument/2006/relationships/slideLayout" Target="/ppt/slideLayouts/slideLayout4.xml" Id="R82c4998473ac48fc" /><Relationship Type="http://schemas.openxmlformats.org/officeDocument/2006/relationships/slideLayout" Target="/ppt/slideLayouts/slideLayout5.xml" Id="R1b7cc5f72b994c46" /><Relationship Type="http://schemas.openxmlformats.org/officeDocument/2006/relationships/slideLayout" Target="/ppt/slideLayouts/slideLayout6.xml" Id="Rff7ced71b4b048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afa17f65064786"/>
    <p:sldLayoutId xmlns:r="http://schemas.openxmlformats.org/officeDocument/2006/relationships" id="2147483650" r:id="R134f783c747f4e6f"/>
    <p:sldLayoutId xmlns:r="http://schemas.openxmlformats.org/officeDocument/2006/relationships" id="2147483651" r:id="Rffa26b881054443b"/>
    <p:sldLayoutId xmlns:r="http://schemas.openxmlformats.org/officeDocument/2006/relationships" id="2147483652" r:id="R82c4998473ac48fc"/>
    <p:sldLayoutId xmlns:r="http://schemas.openxmlformats.org/officeDocument/2006/relationships" id="2147483653" r:id="R1b7cc5f72b994c46"/>
    <p:sldLayoutId xmlns:r="http://schemas.openxmlformats.org/officeDocument/2006/relationships" id="2147483654" r:id="Rff7ced71b4b048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aada64e077482e" /><Relationship Type="http://schemas.openxmlformats.org/officeDocument/2006/relationships/notesSlide" Target="/ppt/notesSlides/notesSlide1.xml" Id="R0b05322fde1f43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05b113e4294ed8" /><Relationship Type="http://schemas.openxmlformats.org/officeDocument/2006/relationships/notesSlide" Target="/ppt/notesSlides/notesSlide2.xml" Id="R586a496370694b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0b42637b8b44dd" /><Relationship Type="http://schemas.openxmlformats.org/officeDocument/2006/relationships/notesSlide" Target="/ppt/notesSlides/notesSlide3.xml" Id="R0eb05287071541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a7db2430704570" /><Relationship Type="http://schemas.openxmlformats.org/officeDocument/2006/relationships/chart" Target="/ppt/slides/charts/chart1.xml" Id="Rffa6a9c05d8241bd" /><Relationship Type="http://schemas.openxmlformats.org/officeDocument/2006/relationships/notesSlide" Target="/ppt/notesSlides/notesSlide4.xml" Id="Re9d54617d8be42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28900fe1064769" /><Relationship Type="http://schemas.openxmlformats.org/officeDocument/2006/relationships/chart" Target="/ppt/slides/charts/chart2.xml" Id="R8140b31f481441f9" /><Relationship Type="http://schemas.openxmlformats.org/officeDocument/2006/relationships/notesSlide" Target="/ppt/notesSlides/notesSlide5.xml" Id="Rfb94c9dbd2884b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2758ccbd7c44f1" /><Relationship Type="http://schemas.openxmlformats.org/officeDocument/2006/relationships/notesSlide" Target="/ppt/notesSlides/notesSlide6.xml" Id="R390a60d74b3e48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b78f29b51649c1" /><Relationship Type="http://schemas.openxmlformats.org/officeDocument/2006/relationships/notesSlide" Target="/ppt/notesSlides/notesSlide7.xml" Id="R76e98c86b5664a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75d7a20c794fc1" /><Relationship Type="http://schemas.openxmlformats.org/officeDocument/2006/relationships/chart" Target="/ppt/slides/charts/chart3.xml" Id="R77cd17f2d9514616" /><Relationship Type="http://schemas.openxmlformats.org/officeDocument/2006/relationships/notesSlide" Target="/ppt/notesSlides/notesSlide8.xml" Id="R5f0fd2347e414e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040f5a93de4048" /><Relationship Type="http://schemas.openxmlformats.org/officeDocument/2006/relationships/notesSlide" Target="/ppt/notesSlides/notesSlide9.xml" Id="R9eb3f9efee4646a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df4dcc05c4474b" /><Relationship Type="http://schemas.openxmlformats.org/officeDocument/2006/relationships/notesSlide" Target="/ppt/notesSlides/notesSlide10.xml" Id="Refacf201fd654da5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Historical average</c:v>
          </c:tx>
          <c:spPr>
            <a:solidFill xmlns:a="http://schemas.openxmlformats.org/drawingml/2006/main">
              <a:srgbClr val="9CAFC1"/>
            </a:solidFill>
          </c:spPr>
          <c:cat>
            <c:strLit>
              <c:ptCount val="2"/>
              <c:pt idx="0">
                <c:v>Cash-in</c:v>
              </c:pt>
              <c:pt idx="1">
                <c:v>Cash-out</c:v>
              </c:pt>
            </c:strLit>
          </c:cat>
          <c:val>
            <c:numLit>
              <c:formatCode>0</c:formatCode>
              <c:ptCount val="2"/>
              <c:pt idx="0">
                <c:v>1466.07</c:v>
              </c:pt>
              <c:pt idx="1">
                <c:v>2274.67</c:v>
              </c:pt>
            </c:numLit>
          </c:val>
        </c:ser>
        <c:ser>
          <c:idx val="1"/>
          <c:order val="1"/>
          <c:tx>
            <c:v>Extra Trees</c:v>
          </c:tx>
          <c:spPr>
            <a:solidFill xmlns:a="http://schemas.openxmlformats.org/drawingml/2006/main">
              <a:srgbClr val="126AA7"/>
            </a:solidFill>
          </c:spPr>
          <c:cat>
            <c:strLit>
              <c:ptCount val="2"/>
              <c:pt idx="0">
                <c:v>Cash-in</c:v>
              </c:pt>
              <c:pt idx="1">
                <c:v>Cash-out</c:v>
              </c:pt>
            </c:strLit>
          </c:cat>
          <c:val>
            <c:numLit>
              <c:formatCode>0</c:formatCode>
              <c:ptCount val="2"/>
              <c:pt idx="0">
                <c:v>1209.83</c:v>
              </c:pt>
              <c:pt idx="1">
                <c:v>1613.86</c:v>
              </c:pt>
            </c:numLit>
          </c:val>
        </c:ser>
        <c:dLbls>
          <c:numFmt formatCode="0.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DejaVu Sans"/>
                    <a:ea typeface="DejaVu Sans"/>
                    <a:cs typeface="DejaVu Sans"/>
                  </a:rPr>
                  <a:t>Hourly MAE (BDT)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8FC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DejaVu Sans"/>
              <a:ea typeface="DejaVu Sans"/>
              <a:cs typeface="DejaVu Sans"/>
            </a:defRPr>
          </a:pPr>
        </a:p>
      </c:txPr>
    </c:legend>
    <c:plotVisOnly val="1"/>
  </c:chart>
  <c:spPr>
    <a:solidFill xmlns:a="http://schemas.openxmlformats.org/drawingml/2006/main">
      <a:srgbClr val="F4F8FC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Net earnings</c:v>
          </c:tx>
          <c:spPr>
            <a:solidFill xmlns:a="http://schemas.openxmlformats.org/drawingml/2006/main">
              <a:srgbClr val="126AA7"/>
            </a:solidFill>
          </c:spPr>
          <c:cat>
            <c:strLit>
              <c:ptCount val="4"/>
              <c:pt idx="0">
                <c:v>Fixed 50/50</c:v>
              </c:pt>
              <c:pt idx="1">
                <c:v>Historical +
optimizer</c:v>
              </c:pt>
              <c:pt idx="2">
                <c:v>No action</c:v>
              </c:pt>
              <c:pt idx="3">
                <c:v>ML +
optimizer</c:v>
              </c:pt>
            </c:strLit>
          </c:cat>
          <c:val>
            <c:numLit>
              <c:formatCode>0</c:formatCode>
              <c:ptCount val="4"/>
              <c:pt idx="0">
                <c:v>316.356</c:v>
              </c:pt>
              <c:pt idx="1">
                <c:v>328.889</c:v>
              </c:pt>
              <c:pt idx="2">
                <c:v>334.654</c:v>
              </c:pt>
              <c:pt idx="3">
                <c:v>339.876</c:v>
              </c:pt>
            </c:numLit>
          </c:val>
        </c:ser>
        <c:dLbls>
          <c:numFmt formatCode="0.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DejaVu Sans"/>
                    <a:ea typeface="DejaVu Sans"/>
                    <a:cs typeface="DejaVu Sans"/>
                  </a:rPr>
                  <a:t>BDT per agent-day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8FC"/>
        </a:solidFill>
      </c:spPr>
    </c:plotArea>
    <c:plotVisOnly val="1"/>
  </c:chart>
  <c:spPr>
    <a:solidFill xmlns:a="http://schemas.openxmlformats.org/drawingml/2006/main">
      <a:srgbClr val="F4F8FC"/>
    </a:solidFill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ML text classifier</c:v>
          </c:tx>
          <c:spPr>
            <a:solidFill xmlns:a="http://schemas.openxmlformats.org/drawingml/2006/main">
              <a:srgbClr val="126AA7"/>
            </a:solidFill>
          </c:spPr>
          <c:cat>
            <c:strLit>
              <c:ptCount val="4"/>
              <c:pt idx="0">
                <c:v>True alerts</c:v>
              </c:pt>
              <c:pt idx="1">
                <c:v>False alerts</c:v>
              </c:pt>
              <c:pt idx="2">
                <c:v>Missed scams</c:v>
              </c:pt>
              <c:pt idx="3">
                <c:v>Correct
non-alerts</c:v>
              </c:pt>
            </c:strLit>
          </c:cat>
          <c:val>
            <c:numLit>
              <c:formatCode>0</c:formatCode>
              <c:ptCount val="4"/>
              <c:pt idx="0">
                <c:v>11</c:v>
              </c:pt>
              <c:pt idx="1">
                <c:v>2</c:v>
              </c:pt>
              <c:pt idx="2">
                <c:v>1</c:v>
              </c:pt>
              <c:pt idx="3">
                <c:v>10</c:v>
              </c:pt>
            </c:numLit>
          </c:val>
        </c:ser>
        <c:ser>
          <c:idx val="1"/>
          <c:order val="1"/>
          <c:tx>
            <c:v>Keyword baseline</c:v>
          </c:tx>
          <c:spPr>
            <a:solidFill xmlns:a="http://schemas.openxmlformats.org/drawingml/2006/main">
              <a:srgbClr val="9CAFC1"/>
            </a:solidFill>
          </c:spPr>
          <c:cat>
            <c:strLit>
              <c:ptCount val="4"/>
              <c:pt idx="0">
                <c:v>True alerts</c:v>
              </c:pt>
              <c:pt idx="1">
                <c:v>False alerts</c:v>
              </c:pt>
              <c:pt idx="2">
                <c:v>Missed scams</c:v>
              </c:pt>
              <c:pt idx="3">
                <c:v>Correct
non-alerts</c:v>
              </c:pt>
            </c:strLit>
          </c:cat>
          <c:val>
            <c:numLit>
              <c:formatCode>0</c:formatCode>
              <c:ptCount val="4"/>
              <c:pt idx="0">
                <c:v>3</c:v>
              </c:pt>
              <c:pt idx="1">
                <c:v>3</c:v>
              </c:pt>
              <c:pt idx="2">
                <c:v>9</c:v>
              </c:pt>
              <c:pt idx="3">
                <c:v>9</c:v>
              </c:pt>
            </c:numLit>
          </c:val>
        </c:ser>
        <c:dLbls>
          <c:numFmt formatCode="0.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DejaVu Sans"/>
                    <a:ea typeface="DejaVu Sans"/>
                    <a:cs typeface="DejaVu Sans"/>
                  </a:rPr>
                  <a:t>Sentence count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8FC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DejaVu Sans"/>
              <a:ea typeface="DejaVu Sans"/>
              <a:cs typeface="DejaVu Sans"/>
            </a:defRPr>
          </a:pPr>
        </a:p>
      </c:txPr>
    </c:legend>
    <c:plotVisOnly val="1"/>
  </c:chart>
  <c:spPr>
    <a:solidFill xmlns:a="http://schemas.openxmlformats.org/drawingml/2006/main">
      <a:srgbClr val="F4F8FC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2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1C0F71-404D-4A46-82A6-4CEAED2E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066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6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UPAY</a:t>
            </a:r>
          </a:p>
          <a:p xmlns:a="http://schemas.openxmlformats.org/drawingml/2006/main">
            <a:pPr>
              <a:defRPr sz="6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6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SHUROKKHA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B2380-2851-41E1-8CB0-BAF229C4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1076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FFE199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FFE199"/>
                </a:solidFill>
                <a:latin typeface="DejaVu Sans"/>
                <a:ea typeface="DejaVu Sans"/>
                <a:cs typeface="DejaVu Sans"/>
              </a:rPr>
              <a:t>Safer payments. Smarter agent liquidity.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6EBBF7-FFBC-4863-80B9-8B74E728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9112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5E1E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D5E1ED"/>
                </a:solidFill>
                <a:latin typeface="DejaVu Sans"/>
                <a:ea typeface="DejaVu Sans"/>
                <a:cs typeface="DejaVu Sans"/>
              </a:rPr>
              <a:t>AI Hackathon 2026 · DIU CPC × upay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6D3421-15D7-4008-8C5F-971E4192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A9BFD1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A9BFD1"/>
                </a:solidFill>
                <a:latin typeface="DejaVu Sans"/>
                <a:ea typeface="DejaVu Sans"/>
                <a:cs typeface="DejaVu Sans"/>
              </a:rPr>
              <a:t>Independent prototype · Synthetic data only</a:t>
            </a:r>
          </a:p>
        </p:txBody>
      </p:sp>
    </p:spTree>
    <p:extLst>
      <p:ext uri="{BB962C8B-B14F-4D97-AF65-F5344CB8AC3E}">
        <p14:creationId xmlns:p14="http://schemas.microsoft.com/office/powerpoint/2010/main" val="1464032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FC0DCA-7507-4DD0-88CC-8D67F15D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Decisions the prototype supports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9AC974-5F0E-468C-9363-893E23AE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For agents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07D662-3938-42ED-9B56-19F48CEA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5048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Will I have enough cash and float</a:t>
            </a:r>
          </a:p>
          <a:p xmlns:a="http://schemas.openxmlformats.org/drawingml/2006/main">
            <a:pPr>
              <a:def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for the next customer?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F811A7-6B97-4108-887F-C57256EB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5095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Forecast both demand streams.</a:t>
            </a:r>
          </a:p>
          <a:p xmlns:a="http://schemas.openxmlformats.org/drawingml/2006/main">
            <a:pPr>
              <a:def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Choose an affordable exchange.</a:t>
            </a:r>
          </a:p>
          <a:p xmlns:a="http://schemas.openxmlformats.org/drawingml/2006/main">
            <a:pPr>
              <a:def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Measure served demand and net costs.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634464-C8AF-49C4-91F1-24EC0E5A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6212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For customers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DA6FD-E30D-4FBB-A02C-57751BA7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28875"/>
            <a:ext cx="4857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What should I verify</a:t>
            </a:r>
          </a:p>
          <a:p xmlns:a="http://schemas.openxmlformats.org/drawingml/2006/main">
            <a:pPr>
              <a:def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before sending?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02E68C-C392-4B52-86B3-20CABC16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14800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Read the payment context.</a:t>
            </a:r>
          </a:p>
          <a:p xmlns:a="http://schemas.openxmlformats.org/drawingml/2006/main">
            <a:pPr>
              <a:def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Explain the warning signs.</a:t>
            </a:r>
          </a:p>
          <a:p xmlns:a="http://schemas.openxmlformats.org/drawingml/2006/main">
            <a:pPr>
              <a:def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Offer a safe next action and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04E1A-7923-4F26-93AA-82314A52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Primary track: Merchant &amp; Agent Intelligence · Supporting capability: Trust &amp; Risk Intelligence</a:t>
            </a:r>
          </a:p>
        </p:txBody>
      </p:sp>
    </p:spTree>
    <p:extLst>
      <p:ext uri="{BB962C8B-B14F-4D97-AF65-F5344CB8AC3E}">
        <p14:creationId xmlns:p14="http://schemas.microsoft.com/office/powerpoint/2010/main" val="5729653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214178-0BCE-415D-9D6A-70B75F04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Cash and float move in opposite directions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674713-8D34-4903-B47A-0C653081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Customer cash-in: 1,000 BDT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8FDF94-4732-40B0-9DEA-922AC34D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625" b="0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Agent cash +1,000     |     Agent float −1,000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D11053-830B-4C59-B445-E85F8DA1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Customer cash-out: 1,000 BDT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DBDE9-9EA6-4439-B901-FDB34FC1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625" b="0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Agent cash −1,000     |     Agent float +1,000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035E26-2C24-49A1-9943-ED5F22D5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An exchange changes the balance mix. Total working capital stays constant.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B3741-AED7-4C89-A10B-758232FF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The optimizer includes no action and skips exchanges that become unaffordable.</a:t>
            </a:r>
          </a:p>
        </p:txBody>
      </p:sp>
    </p:spTree>
    <p:extLst>
      <p:ext uri="{BB962C8B-B14F-4D97-AF65-F5344CB8AC3E}">
        <p14:creationId xmlns:p14="http://schemas.microsoft.com/office/powerpoint/2010/main" val="1294059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73D0F-0F08-4628-B65E-B9A49EC9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Forecast error on unseen days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mlns:a="http://schemas.openxmlformats.org/drawingml/2006/main" x="666750" y="1524000"/>
          <a:ext xmlns:a="http://schemas.openxmlformats.org/drawingml/2006/main" cx="1076325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a6a9c05d8241bd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D43B86-BEED-4C4B-B84A-ABEB41EE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Lower is better · 3 agents × 21 test days × 12 hours · All demand is synthetic</a:t>
            </a:r>
          </a:p>
        </p:txBody>
      </p:sp>
    </p:spTree>
    <p:extLst>
      <p:ext uri="{BB962C8B-B14F-4D97-AF65-F5344CB8AC3E}">
        <p14:creationId xmlns:p14="http://schemas.microsoft.com/office/powerpoint/2010/main" val="5980434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B5C98-1B9D-4991-AB5A-5F25B76F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Net earnings after exchange costs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666750" y="1476375"/>
          <a:ext xmlns:a="http://schemas.openxmlformats.org/drawingml/2006/main" cx="1047750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40b31f481441f9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F61F2-92BC-48B6-9172-58C72376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+10.99 BDT vs historical forecasting; +5.22 BDT vs no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6B750F-3100-48C0-9D60-5E786636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Illustrative rates and capital · These outcomes do not establish commercial returns</a:t>
            </a:r>
          </a:p>
        </p:txBody>
      </p:sp>
    </p:spTree>
    <p:extLst>
      <p:ext uri="{BB962C8B-B14F-4D97-AF65-F5344CB8AC3E}">
        <p14:creationId xmlns:p14="http://schemas.microsoft.com/office/powerpoint/2010/main" val="13819012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22028-64CC-491D-A5E4-0A148A4C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Agent Planning: a clear next action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0A545-D167-41D4-B475-3862F110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Inputs visible to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06D325-7095-4EA2-93C6-239991FE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Counted physical cash + sample electronic float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444B8-C500-489C-B676-1D69E704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Suggestion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89813-EA86-4FB9-AADF-1943FDB5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Exchange an affordable amount before the busy hour, or keep balances.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2FED93-FE0A-4656-A28A-B7C9534A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Why: fictional transaction history, forecast cash-in/out, assumed exchange cost.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75CF3-4DC6-44A7-B71D-AE3B45C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The actual synthetic day can be revealed for a same-demand comparison.</a:t>
            </a:r>
          </a:p>
        </p:txBody>
      </p:sp>
    </p:spTree>
    <p:extLst>
      <p:ext uri="{BB962C8B-B14F-4D97-AF65-F5344CB8AC3E}">
        <p14:creationId xmlns:p14="http://schemas.microsoft.com/office/powerpoint/2010/main" val="16133302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6230E6-9827-4D4A-8038-1D5C6A1E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Payment Safety: explain each signal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019A96-AC84-49E2-99F8-9BA2374C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Customer enters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74F68D-BE1B-463D-B30A-5E6D6623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Amount and optional reason for sending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2070E6-23C5-4B99-9140-6F9966DA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861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Fictional history provides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D2F782-F54D-4971-923A-30728A58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Usual amount and whether this is a first payment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6019E-56F6-4855-BF74-C5F7F28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Output: concern, reasons, independent verification and a demo choice.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89FB06-1F2D-4D77-9773-ECC4FF48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A legitimate hospital bill may still raise concern · No real money moves</a:t>
            </a:r>
          </a:p>
        </p:txBody>
      </p:sp>
    </p:spTree>
    <p:extLst>
      <p:ext uri="{BB962C8B-B14F-4D97-AF65-F5344CB8AC3E}">
        <p14:creationId xmlns:p14="http://schemas.microsoft.com/office/powerpoint/2010/main" val="8636718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A74B8-3D6B-48EB-BE1B-7EE2F6FB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Text classifier: useful signal, small test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666750" y="1476375"/>
          <a:ext xmlns:a="http://schemas.openxmlformats.org/drawingml/2006/main" cx="1047750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7cd17f2d9514616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425574-C07D-493B-92B8-7ADA1332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84.6% precision · 91.7% recall · 16.7% false-warning rate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4CDC84-F5C8-4426-B2EE-15214199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Only 24 test sentences, eight per language · Full concern score is not calibrated</a:t>
            </a:r>
          </a:p>
        </p:txBody>
      </p:sp>
    </p:spTree>
    <p:extLst>
      <p:ext uri="{BB962C8B-B14F-4D97-AF65-F5344CB8AC3E}">
        <p14:creationId xmlns:p14="http://schemas.microsoft.com/office/powerpoint/2010/main" val="651693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3D495A-C4AE-4A3A-BFCF-2FB6C1CB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Limits that shape the next experiment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7359E-F29A-4E6D-878C-1A045652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Liquidity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33517F-D170-486D-A7FA-9DF9CFC5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Refused demand may be missing from real histories.</a:t>
            </a:r>
          </a:p>
          <a:p xmlns:a="http://schemas.openxmlformats.org/drawingml/2006/main">
            <a:pPr>
              <a:defRPr sz="2100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Partner availability, travel time and financing need modeling.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0E2B7-077E-403A-8CEA-ACB3F8DA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Payment safety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73D5F3-978A-4FDF-9819-3328DA2F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76700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Negation and paraphrases can cause mistakes.</a:t>
            </a:r>
          </a:p>
          <a:p xmlns:a="http://schemas.openxmlformats.org/drawingml/2006/main">
            <a:pPr>
              <a:defRPr sz="2100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New-account and language cohorts need much larger tests.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F1E465-91CC-471E-843F-7C48AC77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Pilot first in shadow mode, then test human-approved actions.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EB43DB-AFCC-44F1-8A2D-80DDF27C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Measure full net costs, missed demand, false warnings, reviewer effort and comprehension.</a:t>
            </a:r>
          </a:p>
        </p:txBody>
      </p:sp>
    </p:spTree>
    <p:extLst>
      <p:ext uri="{BB962C8B-B14F-4D97-AF65-F5344CB8AC3E}">
        <p14:creationId xmlns:p14="http://schemas.microsoft.com/office/powerpoint/2010/main" val="6429844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2A9EF-E13F-46A7-9973-E34401A6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Working prototype and Phase 2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684C5-0655-4460-AB11-634AECA9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Built and reproducible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6A218E-26D3-4C2F-887A-5D2EC4FC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Application, synthetic data, models, policy, evaluation,</a:t>
            </a:r>
          </a:p>
          <a:p xmlns:a="http://schemas.openxmlformats.org/drawingml/2006/main">
            <a:pPr>
              <a:defRPr sz="2250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15 automated tests, report and demonstration script.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113F5-C8C3-4F03-9D70-328DA989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26AA7"/>
                </a:solidFill>
                <a:latin typeface="DejaVu Sans"/>
                <a:ea typeface="DejaVu Sans"/>
                <a:cs typeface="DejaVu Sans"/>
              </a:rPr>
              <a:t>Adaptable for on-site requirements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5016C4-E293-40A9-AE5A-BF884AEC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05325"/>
            <a:ext cx="1076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Change capital and costs, add partner constraints,</a:t>
            </a:r>
          </a:p>
          <a:p xmlns:a="http://schemas.openxmlformats.org/drawingml/2006/main">
            <a:pPr>
              <a:defRPr sz="2250" b="0">
                <a:solidFill>
                  <a:srgbClr val="17324B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324B"/>
                </a:solidFill>
                <a:latin typeface="DejaVu Sans"/>
                <a:ea typeface="DejaVu Sans"/>
                <a:cs typeface="DejaVu Sans"/>
              </a:rPr>
              <a:t>update forecasts or revise the review policy.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86FD95-B5BF-4CA7-9D0B-605555E2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github.com/Rawnak-Alam/upay-shurokkha · AI assistance disclosed; team validation required</a:t>
            </a:r>
          </a:p>
        </p:txBody>
      </p:sp>
    </p:spTree>
    <p:extLst>
      <p:ext uri="{BB962C8B-B14F-4D97-AF65-F5344CB8AC3E}">
        <p14:creationId xmlns:p14="http://schemas.microsoft.com/office/powerpoint/2010/main" val="16731836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2026-10-03T23:06:42.9810000Z</dcterms:created>
  <dcterms:modified xsi:type="dcterms:W3CDTF">2026-10-03T23:06:42.9810000Z</dcterms:modified>
</coreProperties>
</file>