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a7d8df2c6440e5" /><Relationship Type="http://schemas.openxmlformats.org/officeDocument/2006/relationships/extended-properties" Target="/docProps/app.xml" Id="Rb6265de2928643f4" /><Relationship Type="http://schemas.openxmlformats.org/officeDocument/2006/relationships/officeDocument" Target="/ppt/presentation.xml" Id="R8df2e3f93b3845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bc019fae7a4e06"/>
  </p:sldMasterIdLst>
  <p:notesMasterIdLst>
    <p:notesMasterId xmlns:r="http://schemas.openxmlformats.org/officeDocument/2006/relationships" r:id="R9f755e3c57a0402c"/>
  </p:notesMasterIdLst>
  <p:sldIdLst>
    <p:sldId xmlns:r="http://schemas.openxmlformats.org/officeDocument/2006/relationships" id="256" r:id="R2d6c7103f75e4191"/>
    <p:sldId xmlns:r="http://schemas.openxmlformats.org/officeDocument/2006/relationships" id="257" r:id="R04bdb58fc5dc46af"/>
    <p:sldId xmlns:r="http://schemas.openxmlformats.org/officeDocument/2006/relationships" id="258" r:id="R8e4f2fc0f2e14697"/>
    <p:sldId xmlns:r="http://schemas.openxmlformats.org/officeDocument/2006/relationships" id="259" r:id="Rc4d76e4167ae42b8"/>
    <p:sldId xmlns:r="http://schemas.openxmlformats.org/officeDocument/2006/relationships" id="260" r:id="Rf70c228f85a54b98"/>
    <p:sldId xmlns:r="http://schemas.openxmlformats.org/officeDocument/2006/relationships" id="261" r:id="R907c1fe9189e4fed"/>
    <p:sldId xmlns:r="http://schemas.openxmlformats.org/officeDocument/2006/relationships" id="262" r:id="R54d10abce2344549"/>
    <p:sldId xmlns:r="http://schemas.openxmlformats.org/officeDocument/2006/relationships" id="263" r:id="R523d14a1f8594b0f"/>
    <p:sldId xmlns:r="http://schemas.openxmlformats.org/officeDocument/2006/relationships" id="264" r:id="Rb25d5491d2d34180"/>
    <p:sldId xmlns:r="http://schemas.openxmlformats.org/officeDocument/2006/relationships" id="265" r:id="Rc132a63e229c44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e70c507c894b36" /><Relationship Type="http://schemas.openxmlformats.org/officeDocument/2006/relationships/slideMaster" Target="/ppt/slideMasters/slideMaster1.xml" Id="R5cbc019fae7a4e06" /><Relationship Type="http://schemas.openxmlformats.org/officeDocument/2006/relationships/notesMaster" Target="/ppt/notesMasters/notesMaster1.xml" Id="R9f755e3c57a0402c" /><Relationship Type="http://schemas.openxmlformats.org/officeDocument/2006/relationships/presProps" Target="/ppt/presProps.xml" Id="R3adc6452353043e4" /><Relationship Type="http://schemas.openxmlformats.org/officeDocument/2006/relationships/tableStyles" Target="/ppt/tableStyles.xml" Id="Rb261afea703f4109" /><Relationship Type="http://schemas.openxmlformats.org/officeDocument/2006/relationships/slide" Target="/ppt/slides/slide1.xml" Id="R2d6c7103f75e4191" /><Relationship Type="http://schemas.openxmlformats.org/officeDocument/2006/relationships/slide" Target="/ppt/slides/slide2.xml" Id="R04bdb58fc5dc46af" /><Relationship Type="http://schemas.openxmlformats.org/officeDocument/2006/relationships/slide" Target="/ppt/slides/slide3.xml" Id="R8e4f2fc0f2e14697" /><Relationship Type="http://schemas.openxmlformats.org/officeDocument/2006/relationships/slide" Target="/ppt/slides/slide4.xml" Id="Rc4d76e4167ae42b8" /><Relationship Type="http://schemas.openxmlformats.org/officeDocument/2006/relationships/slide" Target="/ppt/slides/slide5.xml" Id="Rf70c228f85a54b98" /><Relationship Type="http://schemas.openxmlformats.org/officeDocument/2006/relationships/slide" Target="/ppt/slides/slide6.xml" Id="R907c1fe9189e4fed" /><Relationship Type="http://schemas.openxmlformats.org/officeDocument/2006/relationships/slide" Target="/ppt/slides/slide7.xml" Id="R54d10abce2344549" /><Relationship Type="http://schemas.openxmlformats.org/officeDocument/2006/relationships/slide" Target="/ppt/slides/slide8.xml" Id="R523d14a1f8594b0f" /><Relationship Type="http://schemas.openxmlformats.org/officeDocument/2006/relationships/slide" Target="/ppt/slides/slide9.xml" Id="Rb25d5491d2d34180" /><Relationship Type="http://schemas.openxmlformats.org/officeDocument/2006/relationships/slide" Target="/ppt/slides/slide10.xml" Id="Rc132a63e229c44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1d2ca331094c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7ad083042240a7" /><Relationship Type="http://schemas.openxmlformats.org/officeDocument/2006/relationships/notesMaster" Target="/ppt/notesMasters/notesMaster1.xml" Id="Rd841e6cd6ef14f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8f202ecfde4f2d" /><Relationship Type="http://schemas.openxmlformats.org/officeDocument/2006/relationships/notesMaster" Target="/ppt/notesMasters/notesMaster1.xml" Id="R23a099e75e9741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51d5dc963e4419" /><Relationship Type="http://schemas.openxmlformats.org/officeDocument/2006/relationships/notesMaster" Target="/ppt/notesMasters/notesMaster1.xml" Id="R624b24c3135c4f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79cf8339bf425f" /><Relationship Type="http://schemas.openxmlformats.org/officeDocument/2006/relationships/notesMaster" Target="/ppt/notesMasters/notesMaster1.xml" Id="Rfc2b18f7884e42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8be25f2a9d4817" /><Relationship Type="http://schemas.openxmlformats.org/officeDocument/2006/relationships/notesMaster" Target="/ppt/notesMasters/notesMaster1.xml" Id="R391546899c0c48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e06434fdfe4489" /><Relationship Type="http://schemas.openxmlformats.org/officeDocument/2006/relationships/notesMaster" Target="/ppt/notesMasters/notesMaster1.xml" Id="R01b2654890094e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a9638df8724840" /><Relationship Type="http://schemas.openxmlformats.org/officeDocument/2006/relationships/notesMaster" Target="/ppt/notesMasters/notesMaster1.xml" Id="R5540962125214e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b784998ed4498d" /><Relationship Type="http://schemas.openxmlformats.org/officeDocument/2006/relationships/notesMaster" Target="/ppt/notesMasters/notesMaster1.xml" Id="R73369ca4176e47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09f935232a46bb" /><Relationship Type="http://schemas.openxmlformats.org/officeDocument/2006/relationships/notesMaster" Target="/ppt/notesMasters/notesMaster1.xml" Id="R2ef202f5d4294c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213eefec754442" /><Relationship Type="http://schemas.openxmlformats.org/officeDocument/2006/relationships/notesMaster" Target="/ppt/notesMasters/notesMaster1.xml" Id="R7a10d54db93243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registered team verbally. No official upay endorsement is claimed. Scope based on supplied Student Guideline, Tracks 05 and 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hypotheses, not validated upay-specific shortcomings. No customer interviews were conducted.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Accounting implementation: shurokkha/liquidity.py. Costs and commission use a separate operating ledger. A partner is assumed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artifacts/metrics.json forecast.metrics. Same-hour average uses lags seven and 14. Test: May 14–June 3, 2026 simulated dates; 756 rows. Model fixed after 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artifacts/metrics.json liquidity.strategies. Means over 63 agent-days. Initial cash 6000, float 24000. Commission .4%; cost 25+.1% exchanged amount. ML won 24, lost four and tied 35 versus historical. Two ML actions became infeasible and were skipped.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screenshot of the running prototype. Demonstrate adjustable capital, cost, service preference and realized demand. One exchange per day; no travel delays or financing costs.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screenshot of running prototype. Score is a concern index, never a probability of fraud. The suspicious preset includes one predefined reviewed adverse case. Explain every input and do not imply AI verified a complaint.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artifacts/metrics.json safety and artifacts/safety_holdout.csv. 48 train, 12 validation, 24 test. Families and their translations kept in one split. Character TF-IDF + logistic regression trained from scratch. These are not composite-index metrics.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docs/MODEL_CARD.md and held-out errors. No real-world pilot or user study. The pilot described is a proposal subject to provider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https://github.com/Rawnak-Alam/upay-shurokkha. AI-assisted development disclosed in README. Fifteen automated tests plus browser visual review. User must supply registered team details, verified live URL and recorded video before submitting.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7794d8834d44d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7fd2716792455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74d3f20ef3425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273994c6474dc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d0a0632dcb460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114cb697e549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CAF8FF3-B72C-4A4F-83C5-15F47EFC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3BD77DC-DDC5-430F-AD37-7FF940EEB8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1263AD6-6E29-414B-8904-D888B2FC9B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BFC8E45-326E-42E0-8F98-581A420E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4CF55F2-60A4-454F-BEFF-374DB2473C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E5D8FCC-BF12-4A7E-AD11-4EFA814A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476AEF5-EE9D-4DB1-8535-E01A4736C3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AC8387C-BB2E-4ECF-AE5B-2BA5C226B9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5B5BAD7-C8EE-40AA-9050-73A5F70B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AFCC985-3C5D-4CF0-9A66-57E3128C56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B04A3AB-BFDD-4894-BBF9-9B83102CFA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CBDBA57-2069-47D2-8D11-A6E93E7A8BD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4ACDC50-4713-40B9-BA6F-054FFFF8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36D662A-C49F-4CEA-B89F-9E6C363CD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28191AA-369E-48FF-9DDB-613FA5B06D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8dfe9e0fec4a99" /><Relationship Type="http://schemas.openxmlformats.org/officeDocument/2006/relationships/slideLayout" Target="/ppt/slideLayouts/slideLayout1.xml" Id="R7fdfd23678074404" /><Relationship Type="http://schemas.openxmlformats.org/officeDocument/2006/relationships/slideLayout" Target="/ppt/slideLayouts/slideLayout2.xml" Id="Re6f9d51f3bd34ae7" /><Relationship Type="http://schemas.openxmlformats.org/officeDocument/2006/relationships/slideLayout" Target="/ppt/slideLayouts/slideLayout3.xml" Id="Raf951fc11d804aa4" /><Relationship Type="http://schemas.openxmlformats.org/officeDocument/2006/relationships/slideLayout" Target="/ppt/slideLayouts/slideLayout4.xml" Id="R7ef79671b7004222" /><Relationship Type="http://schemas.openxmlformats.org/officeDocument/2006/relationships/slideLayout" Target="/ppt/slideLayouts/slideLayout5.xml" Id="R6f9f7edec71249db" /><Relationship Type="http://schemas.openxmlformats.org/officeDocument/2006/relationships/slideLayout" Target="/ppt/slideLayouts/slideLayout6.xml" Id="R3fee7678620f4b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dfd23678074404"/>
    <p:sldLayoutId xmlns:r="http://schemas.openxmlformats.org/officeDocument/2006/relationships" id="2147483650" r:id="Re6f9d51f3bd34ae7"/>
    <p:sldLayoutId xmlns:r="http://schemas.openxmlformats.org/officeDocument/2006/relationships" id="2147483651" r:id="Raf951fc11d804aa4"/>
    <p:sldLayoutId xmlns:r="http://schemas.openxmlformats.org/officeDocument/2006/relationships" id="2147483652" r:id="R7ef79671b7004222"/>
    <p:sldLayoutId xmlns:r="http://schemas.openxmlformats.org/officeDocument/2006/relationships" id="2147483653" r:id="R6f9f7edec71249db"/>
    <p:sldLayoutId xmlns:r="http://schemas.openxmlformats.org/officeDocument/2006/relationships" id="2147483654" r:id="R3fee7678620f4b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916d2574cb41d1" /><Relationship Type="http://schemas.openxmlformats.org/officeDocument/2006/relationships/notesSlide" Target="/ppt/notesSlides/notesSlide1.xml" Id="R2716531b5b8048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de3342908e4de3" /><Relationship Type="http://schemas.openxmlformats.org/officeDocument/2006/relationships/notesSlide" Target="/ppt/notesSlides/notesSlide2.xml" Id="Rb5fa0226b62b45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e494a2efe043dd" /><Relationship Type="http://schemas.openxmlformats.org/officeDocument/2006/relationships/notesSlide" Target="/ppt/notesSlides/notesSlide3.xml" Id="R28c21eb8c84a4f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4189c1522e4342" /><Relationship Type="http://schemas.openxmlformats.org/officeDocument/2006/relationships/chart" Target="/ppt/slides/charts/chart1.xml" Id="R9838afbaccb349f0" /><Relationship Type="http://schemas.openxmlformats.org/officeDocument/2006/relationships/notesSlide" Target="/ppt/notesSlides/notesSlide4.xml" Id="Rb093b84b2e0746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410da071d04408" /><Relationship Type="http://schemas.openxmlformats.org/officeDocument/2006/relationships/chart" Target="/ppt/slides/charts/chart2.xml" Id="R047ee1d1487a4552" /><Relationship Type="http://schemas.openxmlformats.org/officeDocument/2006/relationships/notesSlide" Target="/ppt/notesSlides/notesSlide5.xml" Id="R1bc37adda70742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3dd16f0d7a4cc5" /><Relationship Type="http://schemas.openxmlformats.org/officeDocument/2006/relationships/image" Target="/ppt/media/image.png" Id="Rca7531f926bd40f5" /><Relationship Type="http://schemas.openxmlformats.org/officeDocument/2006/relationships/notesSlide" Target="/ppt/notesSlides/notesSlide6.xml" Id="R394a8402c35748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7075b573a24778" /><Relationship Type="http://schemas.openxmlformats.org/officeDocument/2006/relationships/image" Target="/ppt/media/image2.png" Id="Rd76cda10a8c74b51" /><Relationship Type="http://schemas.openxmlformats.org/officeDocument/2006/relationships/notesSlide" Target="/ppt/notesSlides/notesSlide7.xml" Id="R10336ff7bd844b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8e84a2b4704f0a" /><Relationship Type="http://schemas.openxmlformats.org/officeDocument/2006/relationships/chart" Target="/ppt/slides/charts/chart3.xml" Id="R4bc6606c89ef4af9" /><Relationship Type="http://schemas.openxmlformats.org/officeDocument/2006/relationships/notesSlide" Target="/ppt/notesSlides/notesSlide8.xml" Id="Re6dc95f1557248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8d93c8d66d4a37" /><Relationship Type="http://schemas.openxmlformats.org/officeDocument/2006/relationships/notesSlide" Target="/ppt/notesSlides/notesSlide9.xml" Id="R786ec919474e47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7c83668635445a" /><Relationship Type="http://schemas.openxmlformats.org/officeDocument/2006/relationships/notesSlide" Target="/ppt/notesSlides/notesSlide10.xml" Id="R4902e7a3343c4ef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Historical average</c:v>
          </c:tx>
          <c:spPr>
            <a:solidFill xmlns:a="http://schemas.openxmlformats.org/drawingml/2006/main">
              <a:srgbClr val="9CAFC1"/>
            </a:solidFill>
          </c:spPr>
          <c:cat>
            <c:strRef>
              <c:f>'Chart Data'!$A$2:$A$3</c:f>
              <c:strCache>
                <c:ptCount val="2"/>
                <c:pt idx="0">
                  <c:v>Cash-in</c:v>
                </c:pt>
                <c:pt idx="1">
                  <c:v>Cash-out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1466.07</c:v>
                </c:pt>
                <c:pt idx="1">
                  <c:v>2274.67</c:v>
                </c:pt>
              </c:numCache>
            </c:numRef>
          </c:val>
        </c:ser>
        <c:ser>
          <c:idx val="1"/>
          <c:order val="1"/>
          <c:tx>
            <c:v>Extra Trees</c:v>
          </c:tx>
          <c:spPr>
            <a:solidFill xmlns:a="http://schemas.openxmlformats.org/drawingml/2006/main">
              <a:srgbClr val="07866E"/>
            </a:solidFill>
          </c:spPr>
          <c:cat>
            <c:strRef>
              <c:f>'Chart Data'!$C$2:$C$3</c:f>
              <c:strCache>
                <c:ptCount val="2"/>
                <c:pt idx="0">
                  <c:v>Cash-in</c:v>
                </c:pt>
                <c:pt idx="1">
                  <c:v>Cash-out</c:v>
                </c:pt>
              </c:strCache>
            </c:strRef>
          </c:cat>
          <c:val>
            <c:numRef>
              <c:f>'Chart Data'!$D$2:$D$3</c:f>
              <c:numCache>
                <c:formatCode>0</c:formatCode>
                <c:ptCount val="2"/>
                <c:pt idx="0">
                  <c:v>1209.83</c:v>
                </c:pt>
                <c:pt idx="1">
                  <c:v>1613.86</c:v>
                </c:pt>
              </c:numCache>
            </c:numRef>
          </c:val>
        </c:ser>
        <c:dLbls>
          <c:numFmt formatCode="0.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DejaVu Sans"/>
                    <a:ea typeface="DejaVu Sans"/>
                    <a:cs typeface="DejaVu Sans"/>
                  </a:rPr>
                  <a:t>Hourly MAE (BDT)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DejaVu Sans"/>
              <a:ea typeface="DejaVu Sans"/>
              <a:cs typeface="DejaVu Sans"/>
            </a:defRPr>
          </a:pPr>
        </a:p>
      </c:txPr>
    </c:legend>
    <c:plotVisOnly val="1"/>
  </c:chart>
  <c:spPr>
    <a:solidFill xmlns:a="http://schemas.openxmlformats.org/drawingml/2006/main">
      <a:srgbClr val="F7F9FB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Net earnings</c:v>
          </c:tx>
          <c:spPr>
            <a:solidFill xmlns:a="http://schemas.openxmlformats.org/drawingml/2006/main">
              <a:srgbClr val="07866E"/>
            </a:solidFill>
          </c:spPr>
          <c:cat>
            <c:strRef>
              <c:f>'Chart Data'!$A$2:$A$5</c:f>
              <c:strCache>
                <c:ptCount val="4"/>
                <c:pt idx="0">
                  <c:v>Fixed 50/50</c:v>
                </c:pt>
                <c:pt idx="1">
                  <c:v>Historical +
optimizer</c:v>
                </c:pt>
                <c:pt idx="2">
                  <c:v>No action</c:v>
                </c:pt>
                <c:pt idx="3">
                  <c:v>ML +
optimizer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316.356</c:v>
                </c:pt>
                <c:pt idx="1">
                  <c:v>328.889</c:v>
                </c:pt>
                <c:pt idx="2">
                  <c:v>334.654</c:v>
                </c:pt>
                <c:pt idx="3">
                  <c:v>339.876</c:v>
                </c:pt>
              </c:numCache>
            </c:numRef>
          </c:val>
        </c:ser>
        <c:dLbls>
          <c:numFmt formatCode="0.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DejaVu Sans"/>
                    <a:ea typeface="DejaVu Sans"/>
                    <a:cs typeface="DejaVu Sans"/>
                  </a:rPr>
                  <a:t>BDT per agent-day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B"/>
        </a:solidFill>
      </c:spPr>
    </c:plotArea>
    <c:plotVisOnly val="1"/>
  </c:chart>
  <c:spPr>
    <a:solidFill xmlns:a="http://schemas.openxmlformats.org/drawingml/2006/main">
      <a:srgbClr val="F7F9FB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ML text classifier</c:v>
          </c:tx>
          <c:spPr>
            <a:solidFill xmlns:a="http://schemas.openxmlformats.org/drawingml/2006/main">
              <a:srgbClr val="07866E"/>
            </a:solidFill>
          </c:spPr>
          <c:cat>
            <c:strRef>
              <c:f>'Chart Data'!$A$2:$A$5</c:f>
              <c:strCache>
                <c:ptCount val="4"/>
                <c:pt idx="0">
                  <c:v>True alerts</c:v>
                </c:pt>
                <c:pt idx="1">
                  <c:v>False alerts</c:v>
                </c:pt>
                <c:pt idx="2">
                  <c:v>Missed scams</c:v>
                </c:pt>
                <c:pt idx="3">
                  <c:v>Correct
non-alerts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11</c:v>
                </c:pt>
                <c:pt idx="1">
                  <c:v>2</c:v>
                </c:pt>
                <c:pt idx="2">
                  <c:v>1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v>Keyword baseline</c:v>
          </c:tx>
          <c:spPr>
            <a:solidFill xmlns:a="http://schemas.openxmlformats.org/drawingml/2006/main">
              <a:srgbClr val="9CAFC1"/>
            </a:solidFill>
          </c:spPr>
          <c:cat>
            <c:strRef>
              <c:f>'Chart Data'!$C$2:$C$5</c:f>
              <c:strCache>
                <c:ptCount val="4"/>
                <c:pt idx="0">
                  <c:v>True alerts</c:v>
                </c:pt>
                <c:pt idx="1">
                  <c:v>False alerts</c:v>
                </c:pt>
                <c:pt idx="2">
                  <c:v>Missed scams</c:v>
                </c:pt>
                <c:pt idx="3">
                  <c:v>Correct
non-alerts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3</c:v>
                </c:pt>
                <c:pt idx="1">
                  <c:v>3</c:v>
                </c:pt>
                <c:pt idx="2">
                  <c:v>9</c:v>
                </c:pt>
                <c:pt idx="3">
                  <c:v>9</c:v>
                </c:pt>
              </c:numCache>
            </c:numRef>
          </c:val>
        </c:ser>
        <c:dLbls>
          <c:numFmt formatCode="0.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DejaVu Sans"/>
                    <a:ea typeface="DejaVu Sans"/>
                    <a:cs typeface="DejaVu Sans"/>
                  </a:rPr>
                  <a:t>Sentence count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DejaVu Sans"/>
              <a:ea typeface="DejaVu Sans"/>
              <a:cs typeface="DejaVu Sans"/>
            </a:defRPr>
          </a:pPr>
        </a:p>
      </c:txPr>
    </c:legend>
    <c:plotVisOnly val="1"/>
  </c:chart>
  <c:spPr>
    <a:solidFill xmlns:a="http://schemas.openxmlformats.org/drawingml/2006/main">
      <a:srgbClr val="F7F9FB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8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21B6D-E221-42C7-9135-94959735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066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UPAY</a:t>
            </a:r>
          </a:p>
          <a:p xmlns:a="http://schemas.openxmlformats.org/drawingml/2006/main">
            <a:pPr>
              <a:def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6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SHUROKKHA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F6DED-2878-497F-A096-96780BCE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76DEC1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76DEC1"/>
                </a:solidFill>
                <a:latin typeface="DejaVu Sans"/>
                <a:ea typeface="DejaVu Sans"/>
                <a:cs typeface="DejaVu Sans"/>
              </a:rPr>
              <a:t>Safer payments. Smarter agent liquidity.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3A7BEE-34FD-4511-9202-C5CD0BF1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9112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5E1E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1ED"/>
                </a:solidFill>
                <a:latin typeface="DejaVu Sans"/>
                <a:ea typeface="DejaVu Sans"/>
                <a:cs typeface="DejaVu Sans"/>
              </a:rPr>
              <a:t>AI Hackathon 2026 · DIU CPC × upay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E02D4-ABE3-458E-9810-11949788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9BFD1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A9BFD1"/>
                </a:solidFill>
                <a:latin typeface="DejaVu Sans"/>
                <a:ea typeface="DejaVu Sans"/>
                <a:cs typeface="DejaVu Sans"/>
              </a:rPr>
              <a:t>Independent prototype · Synthetic data only</a:t>
            </a:r>
          </a:p>
        </p:txBody>
      </p:sp>
    </p:spTree>
    <p:extLst>
      <p:ext uri="{BB962C8B-B14F-4D97-AF65-F5344CB8AC3E}">
        <p14:creationId xmlns:p14="http://schemas.microsoft.com/office/powerpoint/2010/main" val="7777077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0BC7C-83A8-4EA2-A0D7-1CEF97C0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Decisions the prototype supports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106F8-BAE8-4577-BA63-D78D38A06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For agents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28CB4-443D-4E02-9EE1-E6600D70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5048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Will I have enough cash and float</a:t>
            </a:r>
          </a:p>
          <a:p xmlns:a="http://schemas.openxmlformats.org/drawingml/2006/main">
            <a:pPr>
              <a:def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for the next customer?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F169F-707F-4861-9B9D-69DB652D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5095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Forecast both demand streams.</a:t>
            </a:r>
          </a:p>
          <a:p xmlns:a="http://schemas.openxmlformats.org/drawingml/2006/main">
            <a:pPr>
              <a:def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Choose an affordable exchange.</a:t>
            </a:r>
          </a:p>
          <a:p xmlns:a="http://schemas.openxmlformats.org/drawingml/2006/main">
            <a:pPr>
              <a:def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Measure served demand and net costs.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E7962-C9AD-4633-92B1-5E39F663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621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For customers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FD8F9-1ECE-475E-B8D9-179CCBB9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28875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What should I verify</a:t>
            </a:r>
          </a:p>
          <a:p xmlns:a="http://schemas.openxmlformats.org/drawingml/2006/main">
            <a:pPr>
              <a:def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before sending?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8425B-3276-4AA3-BF16-950E6652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14800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Read the payment context.</a:t>
            </a:r>
          </a:p>
          <a:p xmlns:a="http://schemas.openxmlformats.org/drawingml/2006/main">
            <a:pPr>
              <a:def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Explain the warning signs.</a:t>
            </a:r>
          </a:p>
          <a:p xmlns:a="http://schemas.openxmlformats.org/drawingml/2006/main">
            <a:pPr>
              <a:def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Offer a safe next action and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5D3FC-09EA-430C-9519-2850A79D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Primary track: Merchant &amp; Agent Intelligence · Supporting capability: Trust &amp; Risk Intelligence</a:t>
            </a:r>
          </a:p>
        </p:txBody>
      </p:sp>
    </p:spTree>
    <p:extLst>
      <p:ext uri="{BB962C8B-B14F-4D97-AF65-F5344CB8AC3E}">
        <p14:creationId xmlns:p14="http://schemas.microsoft.com/office/powerpoint/2010/main" val="7053921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D9C80-B8AD-49A5-B46B-0BF97919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Cash and float move in opposite directions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9411C-79FC-4CBD-9B96-C2D0127F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Customer cash-in: 1,000 BDT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7A8E4-EF09-4F2E-A1CB-8C6F771F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Agent cash +1,000     |     Agent float −1,000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DA5DC-1341-4297-B39A-871F6E15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Customer cash-out: 1,000 BDT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93F3E2-5B83-48A8-8159-DE0287EB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Agent cash −1,000     |     Agent float +1,000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2E7AB-DFAE-45AD-AA61-BCE0B21E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An exchange changes the balance mix. Total working capital stays constant.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573F4-6FCC-4650-8B1B-B283B409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The optimizer includes no action and skips exchanges that become unaffordable.</a:t>
            </a:r>
          </a:p>
        </p:txBody>
      </p:sp>
    </p:spTree>
    <p:extLst>
      <p:ext uri="{BB962C8B-B14F-4D97-AF65-F5344CB8AC3E}">
        <p14:creationId xmlns:p14="http://schemas.microsoft.com/office/powerpoint/2010/main" val="20153016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779DE-DD34-42FD-820C-A9B8DD06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Forecast error on unseen days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107632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38afbaccb349f0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723A8-2314-4127-BF61-B0420D69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Lower is better · 3 agents × 21 test days × 12 hours · All demand is synthetic</a:t>
            </a:r>
          </a:p>
        </p:txBody>
      </p:sp>
    </p:spTree>
    <p:extLst>
      <p:ext uri="{BB962C8B-B14F-4D97-AF65-F5344CB8AC3E}">
        <p14:creationId xmlns:p14="http://schemas.microsoft.com/office/powerpoint/2010/main" val="6275696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BCF85-3BFB-4765-84AF-00EE4323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Net earnings after exchange costs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666750" y="1476375"/>
          <a:ext xmlns:a="http://schemas.openxmlformats.org/drawingml/2006/main" cx="104775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7ee1d1487a4552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9F095-34A6-4ECC-82A4-41599D63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+10.99 BDT vs historical forecasting; +5.22 BDT vs no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DD835-6427-4A94-942F-17F574F1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Illustrative rates and capital · These outcomes do not establish commercial returns</a:t>
            </a:r>
          </a:p>
        </p:txBody>
      </p:sp>
    </p:spTree>
    <p:extLst>
      <p:ext uri="{BB962C8B-B14F-4D97-AF65-F5344CB8AC3E}">
        <p14:creationId xmlns:p14="http://schemas.microsoft.com/office/powerpoint/2010/main" val="14699714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796E4-A7BE-40E7-B33B-00A46205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Agent Planning: forecast, act, replay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531f926bd40f5"/>
          <a:srcRect xmlns:a="http://schemas.openxmlformats.org/drawingml/2006/main" l="26400" t="16000" r="5560" b="49000"/>
          <a:stretch xmlns:a="http://schemas.openxmlformats.org/drawingml/2006/main"/>
        </p:blipFill>
        <p:spPr>
          <a:xfrm xmlns:a="http://schemas.openxmlformats.org/drawingml/2006/main">
            <a:off x="590550" y="1524000"/>
            <a:ext cx="11010900" cy="39338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532FE-1071-46D4-A5A0-C03C65A6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Try high exchange costs, low capital and an unannounced cash-out surge.</a:t>
            </a:r>
          </a:p>
        </p:txBody>
      </p:sp>
    </p:spTree>
    <p:extLst>
      <p:ext uri="{BB962C8B-B14F-4D97-AF65-F5344CB8AC3E}">
        <p14:creationId xmlns:p14="http://schemas.microsoft.com/office/powerpoint/2010/main" val="13379400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7C5D7-597D-44CF-A64D-69EDE3E6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Payment Safety: evidence before action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cda10a8c74b51"/>
          <a:srcRect xmlns:a="http://schemas.openxmlformats.org/drawingml/2006/main" l="26400" t="30000" r="5560" b="15000"/>
          <a:stretch xmlns:a="http://schemas.openxmlformats.org/drawingml/2006/main"/>
        </p:blipFill>
        <p:spPr>
          <a:xfrm xmlns:a="http://schemas.openxmlformats.org/drawingml/2006/main">
            <a:off x="2095500" y="1362075"/>
            <a:ext cx="8001000" cy="4495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CF291-7170-4E04-B2E7-A79BA5FF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Text classifier + explicit context rules · No real transfer, accusation or account restriction</a:t>
            </a:r>
          </a:p>
        </p:txBody>
      </p:sp>
    </p:spTree>
    <p:extLst>
      <p:ext uri="{BB962C8B-B14F-4D97-AF65-F5344CB8AC3E}">
        <p14:creationId xmlns:p14="http://schemas.microsoft.com/office/powerpoint/2010/main" val="9724293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0B3B4-D989-4C11-A211-7CA274CD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Text classifier: useful signal, small test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666750" y="1476375"/>
          <a:ext xmlns:a="http://schemas.openxmlformats.org/drawingml/2006/main" cx="104775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c6606c89ef4af9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703CA-3F6F-40C7-9F5E-24BE512D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84.6% precision · 91.7% recall · 16.7% false-warning rate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4EEFB3-1B85-435A-B355-0628D0D8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Only 24 test sentences, eight per language · Full concern score is not calibrated</a:t>
            </a:r>
          </a:p>
        </p:txBody>
      </p:sp>
    </p:spTree>
    <p:extLst>
      <p:ext uri="{BB962C8B-B14F-4D97-AF65-F5344CB8AC3E}">
        <p14:creationId xmlns:p14="http://schemas.microsoft.com/office/powerpoint/2010/main" val="16850949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77F38-909E-4DA3-B3A6-E80B9A84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Limits that shape the next experiment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2A28E-EB09-4EE9-9204-737E0773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Liquidity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03737-2569-4701-833F-ECBCF815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Refused demand may be missing from real histories.</a:t>
            </a:r>
          </a:p>
          <a:p xmlns:a="http://schemas.openxmlformats.org/drawingml/2006/main">
            <a:pPr>
              <a:def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Partner availability, travel time and financing need modeling.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7BFD1-9CC8-4456-854D-8DC3F785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Payment safety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D586D-E474-4987-8CAC-8F2B581B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Negation and paraphrases can cause mistakes.</a:t>
            </a:r>
          </a:p>
          <a:p xmlns:a="http://schemas.openxmlformats.org/drawingml/2006/main">
            <a:pPr>
              <a:def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New-account and language cohorts need much larger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646E6-0027-4D98-8AEE-AAAB2029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Pilot first in shadow mode, then test human-approved actions.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CCB03-27DF-4271-AAB9-F3D2F6F1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Measure full net costs, missed demand, false warnings, reviewer effort and comprehension.</a:t>
            </a:r>
          </a:p>
        </p:txBody>
      </p:sp>
    </p:spTree>
    <p:extLst>
      <p:ext uri="{BB962C8B-B14F-4D97-AF65-F5344CB8AC3E}">
        <p14:creationId xmlns:p14="http://schemas.microsoft.com/office/powerpoint/2010/main" val="5108701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12486-159C-43B7-B774-57293D1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Working prototype and Phase 2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60840-FA67-4E8A-9D09-E1F5A6E8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Built and reproducible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6E327-90F0-46D2-8E75-BD6BCD3E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Application, synthetic data, models, policy, evaluation,</a:t>
            </a:r>
          </a:p>
          <a:p xmlns:a="http://schemas.openxmlformats.org/drawingml/2006/main">
            <a:pPr>
              <a:def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15 automated tests, report and demonstration script.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FA8236-E2B2-436E-A8BC-E7C5E6C5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7866E"/>
                </a:solidFill>
                <a:latin typeface="DejaVu Sans"/>
                <a:ea typeface="DejaVu Sans"/>
                <a:cs typeface="DejaVu Sans"/>
              </a:rPr>
              <a:t>Adaptable for on-site requirements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DB284-2A6B-4FA5-9ABD-35C79189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05325"/>
            <a:ext cx="1076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Change capital and costs, add partner constraints,</a:t>
            </a:r>
          </a:p>
          <a:p xmlns:a="http://schemas.openxmlformats.org/drawingml/2006/main">
            <a:pPr>
              <a:def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4283E"/>
                </a:solidFill>
                <a:latin typeface="DejaVu Sans"/>
                <a:ea typeface="DejaVu Sans"/>
                <a:cs typeface="DejaVu Sans"/>
              </a:rPr>
              <a:t>update forecasts or revise the review policy.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1E0F78-604C-4967-AF1E-2C011B01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77A"/>
                </a:solidFill>
                <a:latin typeface="DejaVu Sans"/>
                <a:ea typeface="DejaVu Sans"/>
                <a:cs typeface="DejaVu Sans"/>
              </a:rPr>
              <a:t>github.com/Rawnak-Alam/upay-shurokkha · AI assistance disclosed; team validation required</a:t>
            </a:r>
          </a:p>
        </p:txBody>
      </p:sp>
    </p:spTree>
    <p:extLst>
      <p:ext uri="{BB962C8B-B14F-4D97-AF65-F5344CB8AC3E}">
        <p14:creationId xmlns:p14="http://schemas.microsoft.com/office/powerpoint/2010/main" val="959476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2026-10-03T21:35:13.9860000Z</dcterms:created>
  <dcterms:modified xsi:type="dcterms:W3CDTF">2026-10-03T21:35:13.9860000Z</dcterms:modified>
</coreProperties>
</file>